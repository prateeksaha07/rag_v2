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rag-v2-gules.vercel.app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prateEKsaha07/RAG_v2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_type_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78"/>
          <p:cNvSpPr/>
          <p:nvPr/>
        </p:nvSpPr>
        <p:spPr>
          <a:xfrm>
            <a:off x="5673030" y="5295900"/>
            <a:ext cx="7128570" cy="23812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" sz="15000" dirty="0"/>
          </a:p>
        </p:txBody>
      </p:sp>
      <p:sp>
        <p:nvSpPr>
          <p:cNvPr id="4" name="TextBox 22"/>
          <p:cNvSpPr/>
          <p:nvPr/>
        </p:nvSpPr>
        <p:spPr>
          <a:xfrm>
            <a:off x="9965085" y="609600"/>
            <a:ext cx="161731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" altLang="en-US" sz="900" b="1" kern="0" spc="180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PROJECT PITCH DECK</a:t>
            </a:r>
            <a:endParaRPr lang="en" sz="900" dirty="0"/>
          </a:p>
        </p:txBody>
      </p:sp>
      <p:sp>
        <p:nvSpPr>
          <p:cNvPr id="5" name="TextBox 24"/>
          <p:cNvSpPr/>
          <p:nvPr/>
        </p:nvSpPr>
        <p:spPr>
          <a:xfrm>
            <a:off x="9965085" y="781050"/>
            <a:ext cx="161731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" altLang="en-US" sz="1050" dirty="0">
                <a:solidFill>
                  <a:srgbClr val="2D2926">
                    <a:alpha val="6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Technical Portfolio 2026</a:t>
            </a:r>
            <a:endParaRPr lang="en" sz="1050" dirty="0"/>
          </a:p>
        </p:txBody>
      </p:sp>
      <p:sp>
        <p:nvSpPr>
          <p:cNvPr id="6" name="TextBox 36"/>
          <p:cNvSpPr/>
          <p:nvPr/>
        </p:nvSpPr>
        <p:spPr>
          <a:xfrm>
            <a:off x="541867" y="1466850"/>
            <a:ext cx="6400800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750"/>
              </a:lnSpc>
              <a:buNone/>
            </a:pPr>
            <a:r>
              <a:rPr lang="en" altLang="en-US" sz="7500" b="1" kern="0" spc="-37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STUDY</a:t>
            </a:r>
            <a:endParaRPr lang="en" sz="7500" dirty="0"/>
          </a:p>
          <a:p>
            <a:pPr marL="0" indent="0" algn="l">
              <a:lnSpc>
                <a:spcPts val="6750"/>
              </a:lnSpc>
              <a:buNone/>
            </a:pPr>
            <a:r>
              <a:rPr lang="en" altLang="en-US" sz="7500" b="1" kern="0" spc="-37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ASSISTANT</a:t>
            </a:r>
            <a:endParaRPr lang="en" sz="7500" dirty="0"/>
          </a:p>
        </p:txBody>
      </p:sp>
      <p:sp>
        <p:nvSpPr>
          <p:cNvPr id="7" name="TextBox 42"/>
          <p:cNvSpPr/>
          <p:nvPr/>
        </p:nvSpPr>
        <p:spPr>
          <a:xfrm>
            <a:off x="609600" y="3907631"/>
            <a:ext cx="4876800" cy="309562"/>
          </a:xfrm>
          <a:prstGeom prst="rect">
            <a:avLst/>
          </a:prstGeom>
          <a:noFill/>
          <a:ln/>
        </p:spPr>
        <p:txBody>
          <a:bodyPr wrap="none" lIns="22860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500" b="1" dirty="0">
                <a:solidFill>
                  <a:srgbClr val="5C1A1A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Solo-Built, Deployed AI Learning Assistant</a:t>
            </a:r>
            <a:endParaRPr lang="en" sz="1500" dirty="0"/>
          </a:p>
        </p:txBody>
      </p:sp>
      <p:sp>
        <p:nvSpPr>
          <p:cNvPr id="8" name="TextBox 44"/>
          <p:cNvSpPr/>
          <p:nvPr/>
        </p:nvSpPr>
        <p:spPr>
          <a:xfrm>
            <a:off x="609600" y="4245769"/>
            <a:ext cx="4876800" cy="742950"/>
          </a:xfrm>
          <a:prstGeom prst="rect">
            <a:avLst/>
          </a:prstGeom>
          <a:noFill/>
          <a:ln/>
        </p:spPr>
        <p:txBody>
          <a:bodyPr wrap="none" lIns="26670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" altLang="en-US" sz="1200" dirty="0">
                <a:solidFill>
                  <a:srgbClr val="2D2926">
                    <a:alpha val="7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comprehensive overview of a RAG-based full-stack web</a:t>
            </a:r>
            <a:endParaRPr lang="en" sz="12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" altLang="en-US" sz="1200" dirty="0">
                <a:solidFill>
                  <a:srgbClr val="2D2926">
                    <a:alpha val="7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application designed to revolutionize student learning through</a:t>
            </a:r>
            <a:endParaRPr lang="en" sz="12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" altLang="en-US" sz="1200" dirty="0">
                <a:solidFill>
                  <a:srgbClr val="2D2926">
                    <a:alpha val="7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intelligent, contextual assistance.</a:t>
            </a:r>
            <a:endParaRPr lang="en" sz="1200" dirty="0"/>
          </a:p>
        </p:txBody>
      </p:sp>
      <p:sp>
        <p:nvSpPr>
          <p:cNvPr id="9" name="TextBox 54"/>
          <p:cNvSpPr/>
          <p:nvPr/>
        </p:nvSpPr>
        <p:spPr>
          <a:xfrm>
            <a:off x="609600" y="5715000"/>
            <a:ext cx="170006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b="1" kern="0" spc="90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DEVELOPER &amp; ARCHITECT</a:t>
            </a:r>
            <a:endParaRPr lang="en" sz="900" dirty="0"/>
          </a:p>
        </p:txBody>
      </p:sp>
      <p:sp>
        <p:nvSpPr>
          <p:cNvPr id="10" name="TextBox 56"/>
          <p:cNvSpPr/>
          <p:nvPr/>
        </p:nvSpPr>
        <p:spPr>
          <a:xfrm>
            <a:off x="609600" y="5848350"/>
            <a:ext cx="1700064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210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Prateek Saha</a:t>
            </a:r>
            <a:endParaRPr lang="en" sz="2100" dirty="0"/>
          </a:p>
        </p:txBody>
      </p:sp>
      <p:sp>
        <p:nvSpPr>
          <p:cNvPr id="11" name="TextBox 72"/>
          <p:cNvSpPr/>
          <p:nvPr/>
        </p:nvSpPr>
        <p:spPr>
          <a:xfrm>
            <a:off x="9562802" y="6076950"/>
            <a:ext cx="201959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kern="0" spc="-45" dirty="0">
                <a:solidFill>
                  <a:srgbClr val="2D2926">
                    <a:alpha val="4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DEPLOYED SYSTEM / LIVE INTELLIGENCE</a:t>
            </a:r>
            <a:endParaRPr lang="en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_type_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19"/>
          <p:cNvSpPr/>
          <p:nvPr/>
        </p:nvSpPr>
        <p:spPr>
          <a:xfrm>
            <a:off x="609600" y="457200"/>
            <a:ext cx="109728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b="1" kern="0" spc="105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EDUCATIONAL CHALLENGES</a:t>
            </a:r>
            <a:endParaRPr lang="en" sz="1050" dirty="0"/>
          </a:p>
        </p:txBody>
      </p:sp>
      <p:sp>
        <p:nvSpPr>
          <p:cNvPr id="4" name="TextBox 21"/>
          <p:cNvSpPr/>
          <p:nvPr/>
        </p:nvSpPr>
        <p:spPr>
          <a:xfrm>
            <a:off x="609600" y="693390"/>
            <a:ext cx="10972800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31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Problem Statement</a:t>
            </a:r>
            <a:endParaRPr lang="en" sz="3150" dirty="0"/>
          </a:p>
        </p:txBody>
      </p:sp>
      <p:sp>
        <p:nvSpPr>
          <p:cNvPr id="5" name="TextBox 34"/>
          <p:cNvSpPr/>
          <p:nvPr/>
        </p:nvSpPr>
        <p:spPr>
          <a:xfrm>
            <a:off x="866775" y="1361926"/>
            <a:ext cx="8277225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" altLang="en-US" sz="1500" b="1" i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"Fragmented tools and ungrounded AI create an inefficient, one-size-fits-all learning</a:t>
            </a:r>
            <a:endParaRPr lang="en" sz="15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" altLang="en-US" sz="1500" b="1" i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experience."</a:t>
            </a:r>
            <a:endParaRPr lang="en" sz="1500" dirty="0"/>
          </a:p>
        </p:txBody>
      </p:sp>
      <p:sp>
        <p:nvSpPr>
          <p:cNvPr id="6" name="TextBox 46"/>
          <p:cNvSpPr/>
          <p:nvPr/>
        </p:nvSpPr>
        <p:spPr>
          <a:xfrm>
            <a:off x="923925" y="2514451"/>
            <a:ext cx="2825651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80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Fragmented Landscape</a:t>
            </a:r>
            <a:endParaRPr lang="en" sz="1800" dirty="0"/>
          </a:p>
        </p:txBody>
      </p:sp>
      <p:sp>
        <p:nvSpPr>
          <p:cNvPr id="7" name="TextBox 48"/>
          <p:cNvSpPr/>
          <p:nvPr/>
        </p:nvSpPr>
        <p:spPr>
          <a:xfrm>
            <a:off x="923925" y="2963912"/>
            <a:ext cx="2825651" cy="975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Notes, PDFs, and quizzes reside in</a:t>
            </a:r>
            <a:endParaRPr lang="en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separate, disconnected tools. This lack</a:t>
            </a:r>
            <a:endParaRPr lang="en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of integration prevents a unified</a:t>
            </a:r>
            <a:endParaRPr lang="en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learning loop from reading to revision.</a:t>
            </a:r>
            <a:endParaRPr lang="en" sz="1200" dirty="0"/>
          </a:p>
        </p:txBody>
      </p:sp>
      <p:sp>
        <p:nvSpPr>
          <p:cNvPr id="8" name="TextBox 60"/>
          <p:cNvSpPr/>
          <p:nvPr/>
        </p:nvSpPr>
        <p:spPr>
          <a:xfrm>
            <a:off x="4683026" y="2514451"/>
            <a:ext cx="2825800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80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Ungrounded AI</a:t>
            </a:r>
            <a:endParaRPr lang="en" sz="1800" dirty="0"/>
          </a:p>
        </p:txBody>
      </p:sp>
      <p:sp>
        <p:nvSpPr>
          <p:cNvPr id="9" name="TextBox 62"/>
          <p:cNvSpPr/>
          <p:nvPr/>
        </p:nvSpPr>
        <p:spPr>
          <a:xfrm>
            <a:off x="4683026" y="2963912"/>
            <a:ext cx="2825800" cy="975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Generic AI tools often suffer from</a:t>
            </a:r>
            <a:endParaRPr lang="en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hallucinations, lacking grounding in the</a:t>
            </a:r>
            <a:endParaRPr lang="en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student's specific study materials and</a:t>
            </a:r>
            <a:endParaRPr lang="en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local context.</a:t>
            </a:r>
            <a:endParaRPr lang="en" sz="1200" dirty="0"/>
          </a:p>
        </p:txBody>
      </p:sp>
      <p:sp>
        <p:nvSpPr>
          <p:cNvPr id="10" name="TextBox 74"/>
          <p:cNvSpPr/>
          <p:nvPr/>
        </p:nvSpPr>
        <p:spPr>
          <a:xfrm>
            <a:off x="8442275" y="2514451"/>
            <a:ext cx="2825651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80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Generic Adaptation</a:t>
            </a:r>
            <a:endParaRPr lang="en" sz="1800" dirty="0"/>
          </a:p>
        </p:txBody>
      </p:sp>
      <p:sp>
        <p:nvSpPr>
          <p:cNvPr id="11" name="TextBox 76"/>
          <p:cNvSpPr/>
          <p:nvPr/>
        </p:nvSpPr>
        <p:spPr>
          <a:xfrm>
            <a:off x="8442275" y="2963912"/>
            <a:ext cx="2825651" cy="975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Existing platforms fail to adapt to</a:t>
            </a:r>
            <a:endParaRPr lang="en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individual weak areas, offering the</a:t>
            </a:r>
            <a:endParaRPr lang="en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same content to every learner without</a:t>
            </a:r>
            <a:endParaRPr lang="en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meaningful personalization.</a:t>
            </a:r>
            <a:endParaRPr lang="en" sz="1200" dirty="0"/>
          </a:p>
        </p:txBody>
      </p:sp>
      <p:sp>
        <p:nvSpPr>
          <p:cNvPr id="12" name="TextBox 89"/>
          <p:cNvSpPr/>
          <p:nvPr/>
        </p:nvSpPr>
        <p:spPr>
          <a:xfrm>
            <a:off x="609600" y="6076950"/>
            <a:ext cx="36104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kern="0" spc="90" dirty="0">
                <a:solidFill>
                  <a:srgbClr val="2D2926">
                    <a:alpha val="5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ANALYSIS OF CURRENT EDUCATIONAL INFRASTRUCTURE</a:t>
            </a:r>
            <a:endParaRPr lang="en" sz="900" dirty="0"/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_type_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14"/>
          <p:cNvSpPr/>
          <p:nvPr/>
        </p:nvSpPr>
        <p:spPr>
          <a:xfrm>
            <a:off x="609600" y="457200"/>
            <a:ext cx="228867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b="1" kern="0" spc="158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ECOSYSTEM ARCHITECTURE</a:t>
            </a:r>
            <a:endParaRPr lang="en" sz="1050" dirty="0"/>
          </a:p>
        </p:txBody>
      </p:sp>
      <p:sp>
        <p:nvSpPr>
          <p:cNvPr id="4" name="TextBox 16"/>
          <p:cNvSpPr/>
          <p:nvPr/>
        </p:nvSpPr>
        <p:spPr>
          <a:xfrm>
            <a:off x="609600" y="733425"/>
            <a:ext cx="3611761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31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Proposed Solution</a:t>
            </a:r>
            <a:endParaRPr lang="en" sz="3150" dirty="0"/>
          </a:p>
        </p:txBody>
      </p:sp>
      <p:sp>
        <p:nvSpPr>
          <p:cNvPr id="5" name="TextBox 23"/>
          <p:cNvSpPr/>
          <p:nvPr/>
        </p:nvSpPr>
        <p:spPr>
          <a:xfrm>
            <a:off x="609600" y="1478161"/>
            <a:ext cx="853440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" altLang="en-US" sz="12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AI Study Assistant provides an integrated ecosystem that transforms static study materials into dynamic,</a:t>
            </a:r>
            <a:endParaRPr lang="en" sz="12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" altLang="en-US" sz="12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personalized learning paths.</a:t>
            </a:r>
            <a:endParaRPr lang="en" sz="1200" dirty="0"/>
          </a:p>
        </p:txBody>
      </p:sp>
      <p:sp>
        <p:nvSpPr>
          <p:cNvPr id="6" name="TextBox 27"/>
          <p:cNvSpPr/>
          <p:nvPr/>
        </p:nvSpPr>
        <p:spPr>
          <a:xfrm>
            <a:off x="876300" y="2163961"/>
            <a:ext cx="82677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" altLang="en-US" sz="150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unified platform that automates ingestion, grounding, and personalized roadmap</a:t>
            </a:r>
            <a:endParaRPr lang="en" sz="15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" altLang="en-US" sz="150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generation.</a:t>
            </a:r>
            <a:endParaRPr lang="en" sz="1500" dirty="0"/>
          </a:p>
        </p:txBody>
      </p:sp>
      <p:sp>
        <p:nvSpPr>
          <p:cNvPr id="7" name="TextBox 37"/>
          <p:cNvSpPr/>
          <p:nvPr/>
        </p:nvSpPr>
        <p:spPr>
          <a:xfrm>
            <a:off x="847725" y="3278386"/>
            <a:ext cx="20383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b="1" kern="0" spc="45" dirty="0">
                <a:solidFill>
                  <a:srgbClr val="8C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MODULE 01</a:t>
            </a:r>
            <a:endParaRPr lang="en" sz="900" dirty="0"/>
          </a:p>
        </p:txBody>
      </p:sp>
      <p:sp>
        <p:nvSpPr>
          <p:cNvPr id="8" name="TextBox 39"/>
          <p:cNvSpPr/>
          <p:nvPr/>
        </p:nvSpPr>
        <p:spPr>
          <a:xfrm>
            <a:off x="847725" y="3564136"/>
            <a:ext cx="2038350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35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Automated Ingestion</a:t>
            </a:r>
            <a:endParaRPr lang="en" sz="1350" dirty="0"/>
          </a:p>
        </p:txBody>
      </p:sp>
      <p:sp>
        <p:nvSpPr>
          <p:cNvPr id="9" name="TextBox 42"/>
          <p:cNvSpPr/>
          <p:nvPr/>
        </p:nvSpPr>
        <p:spPr>
          <a:xfrm>
            <a:off x="847725" y="5157192"/>
            <a:ext cx="2038350" cy="853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Allows users to upload study</a:t>
            </a:r>
            <a:endParaRPr lang="en" sz="1050" dirty="0"/>
          </a:p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materials which are</a:t>
            </a:r>
            <a:endParaRPr lang="en" sz="1050" dirty="0"/>
          </a:p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automatically ingested and</a:t>
            </a:r>
            <a:endParaRPr lang="en" sz="1050" dirty="0"/>
          </a:p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indexed for seamless retrieval.</a:t>
            </a:r>
            <a:endParaRPr lang="en" sz="1050" dirty="0"/>
          </a:p>
        </p:txBody>
      </p:sp>
      <p:sp>
        <p:nvSpPr>
          <p:cNvPr id="10" name="TextBox 49"/>
          <p:cNvSpPr/>
          <p:nvPr/>
        </p:nvSpPr>
        <p:spPr>
          <a:xfrm>
            <a:off x="3667125" y="3278386"/>
            <a:ext cx="20383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b="1" kern="0" spc="45" dirty="0">
                <a:solidFill>
                  <a:srgbClr val="8C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MODULE 02</a:t>
            </a:r>
            <a:endParaRPr lang="en" sz="900" dirty="0"/>
          </a:p>
        </p:txBody>
      </p:sp>
      <p:sp>
        <p:nvSpPr>
          <p:cNvPr id="11" name="TextBox 51"/>
          <p:cNvSpPr/>
          <p:nvPr/>
        </p:nvSpPr>
        <p:spPr>
          <a:xfrm>
            <a:off x="3667125" y="3564136"/>
            <a:ext cx="2038350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35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Grounded Q&amp;A</a:t>
            </a:r>
            <a:endParaRPr lang="en" sz="1350" dirty="0"/>
          </a:p>
        </p:txBody>
      </p:sp>
      <p:sp>
        <p:nvSpPr>
          <p:cNvPr id="12" name="TextBox 54"/>
          <p:cNvSpPr/>
          <p:nvPr/>
        </p:nvSpPr>
        <p:spPr>
          <a:xfrm>
            <a:off x="3667125" y="4943921"/>
            <a:ext cx="2038350" cy="10663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Students can ask the AI</a:t>
            </a:r>
            <a:endParaRPr lang="en" sz="1050" dirty="0"/>
          </a:p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questions that are strictly</a:t>
            </a:r>
            <a:endParaRPr lang="en" sz="1050" dirty="0"/>
          </a:p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grounded in their own notes and</a:t>
            </a:r>
            <a:endParaRPr lang="en" sz="1050" dirty="0"/>
          </a:p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uploads, ensuring absolute</a:t>
            </a:r>
            <a:endParaRPr lang="en" sz="1050" dirty="0"/>
          </a:p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accuracy.</a:t>
            </a:r>
            <a:endParaRPr lang="en" sz="1050" dirty="0"/>
          </a:p>
        </p:txBody>
      </p:sp>
      <p:sp>
        <p:nvSpPr>
          <p:cNvPr id="13" name="TextBox 61"/>
          <p:cNvSpPr/>
          <p:nvPr/>
        </p:nvSpPr>
        <p:spPr>
          <a:xfrm>
            <a:off x="6486525" y="3278386"/>
            <a:ext cx="20383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b="1" kern="0" spc="45" dirty="0">
                <a:solidFill>
                  <a:srgbClr val="8C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MODULE 03</a:t>
            </a:r>
            <a:endParaRPr lang="en" sz="900" dirty="0"/>
          </a:p>
        </p:txBody>
      </p:sp>
      <p:sp>
        <p:nvSpPr>
          <p:cNvPr id="14" name="TextBox 63"/>
          <p:cNvSpPr/>
          <p:nvPr/>
        </p:nvSpPr>
        <p:spPr>
          <a:xfrm>
            <a:off x="6486525" y="3564136"/>
            <a:ext cx="2038350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35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Adaptive Quizzing</a:t>
            </a:r>
            <a:endParaRPr lang="en" sz="1350" dirty="0"/>
          </a:p>
        </p:txBody>
      </p:sp>
      <p:sp>
        <p:nvSpPr>
          <p:cNvPr id="15" name="TextBox 66"/>
          <p:cNvSpPr/>
          <p:nvPr/>
        </p:nvSpPr>
        <p:spPr>
          <a:xfrm>
            <a:off x="6486525" y="5157192"/>
            <a:ext cx="2038350" cy="853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Generates quizzes scoped to</a:t>
            </a:r>
            <a:endParaRPr lang="en" sz="1050" dirty="0"/>
          </a:p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specific subjects and detects</a:t>
            </a:r>
            <a:endParaRPr lang="en" sz="1050" dirty="0"/>
          </a:p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weak topics to provide highly</a:t>
            </a:r>
            <a:endParaRPr lang="en" sz="1050" dirty="0"/>
          </a:p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personalized revision snippets.</a:t>
            </a:r>
            <a:endParaRPr lang="en" sz="1050" dirty="0"/>
          </a:p>
        </p:txBody>
      </p:sp>
      <p:sp>
        <p:nvSpPr>
          <p:cNvPr id="16" name="TextBox 73"/>
          <p:cNvSpPr/>
          <p:nvPr/>
        </p:nvSpPr>
        <p:spPr>
          <a:xfrm>
            <a:off x="9305925" y="3278386"/>
            <a:ext cx="20383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b="1" kern="0" spc="45" dirty="0">
                <a:solidFill>
                  <a:srgbClr val="8C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MODULE 04</a:t>
            </a:r>
            <a:endParaRPr lang="en" sz="900" dirty="0"/>
          </a:p>
        </p:txBody>
      </p:sp>
      <p:sp>
        <p:nvSpPr>
          <p:cNvPr id="17" name="TextBox 75"/>
          <p:cNvSpPr/>
          <p:nvPr/>
        </p:nvSpPr>
        <p:spPr>
          <a:xfrm>
            <a:off x="9305925" y="3564136"/>
            <a:ext cx="2038350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35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Structured Roadmaps</a:t>
            </a:r>
            <a:endParaRPr lang="en" sz="1350" dirty="0"/>
          </a:p>
        </p:txBody>
      </p:sp>
      <p:sp>
        <p:nvSpPr>
          <p:cNvPr id="18" name="TextBox 78"/>
          <p:cNvSpPr/>
          <p:nvPr/>
        </p:nvSpPr>
        <p:spPr>
          <a:xfrm>
            <a:off x="9305925" y="5157192"/>
            <a:ext cx="2038350" cy="853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Builds LLM-planned study</a:t>
            </a:r>
            <a:endParaRPr lang="en" sz="1050" dirty="0"/>
          </a:p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roadmaps designed for a</a:t>
            </a:r>
            <a:endParaRPr lang="en" sz="1050" dirty="0"/>
          </a:p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rigorous, week-by-week</a:t>
            </a:r>
            <a:endParaRPr lang="en" sz="1050" dirty="0"/>
          </a:p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structured learning schedule.</a:t>
            </a:r>
            <a:endParaRPr lang="en" sz="1050" dirty="0"/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_type_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6"/>
          <p:cNvSpPr/>
          <p:nvPr/>
        </p:nvSpPr>
        <p:spPr>
          <a:xfrm>
            <a:off x="609600" y="457200"/>
            <a:ext cx="2559397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b="1" kern="0" spc="158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FULL-STACK RAG APPLICATION</a:t>
            </a:r>
            <a:endParaRPr lang="en" sz="1050" dirty="0"/>
          </a:p>
        </p:txBody>
      </p:sp>
      <p:sp>
        <p:nvSpPr>
          <p:cNvPr id="4" name="TextBox 28"/>
          <p:cNvSpPr/>
          <p:nvPr/>
        </p:nvSpPr>
        <p:spPr>
          <a:xfrm>
            <a:off x="609600" y="695325"/>
            <a:ext cx="4011811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31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System Architecture</a:t>
            </a:r>
            <a:endParaRPr lang="en" sz="3150" dirty="0"/>
          </a:p>
        </p:txBody>
      </p:sp>
      <p:sp>
        <p:nvSpPr>
          <p:cNvPr id="5" name="TextBox 43"/>
          <p:cNvSpPr/>
          <p:nvPr/>
        </p:nvSpPr>
        <p:spPr>
          <a:xfrm>
            <a:off x="609600" y="1659136"/>
            <a:ext cx="3251002" cy="975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application is built on a robust, full-stack</a:t>
            </a:r>
            <a:endParaRPr lang="en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architecture utilizing modern web</a:t>
            </a:r>
            <a:endParaRPr lang="en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technologies and specialized AI components</a:t>
            </a:r>
            <a:endParaRPr lang="en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for efficient RAG operations.</a:t>
            </a:r>
            <a:endParaRPr lang="en" sz="1200" dirty="0"/>
          </a:p>
        </p:txBody>
      </p:sp>
      <p:sp>
        <p:nvSpPr>
          <p:cNvPr id="6" name="TextBox 50"/>
          <p:cNvSpPr/>
          <p:nvPr/>
        </p:nvSpPr>
        <p:spPr>
          <a:xfrm>
            <a:off x="866775" y="5126682"/>
            <a:ext cx="2993827" cy="959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" altLang="en-US" sz="135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modern full-stack stack</a:t>
            </a:r>
            <a:endParaRPr lang="en" sz="1350" dirty="0"/>
          </a:p>
          <a:p>
            <a:pPr marL="0" indent="0" algn="l">
              <a:lnSpc>
                <a:spcPts val="1890"/>
              </a:lnSpc>
              <a:buNone/>
            </a:pPr>
            <a:r>
              <a:rPr lang="en" altLang="en-US" sz="135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combining React, FastAPI,</a:t>
            </a:r>
            <a:endParaRPr lang="en" sz="1350" dirty="0"/>
          </a:p>
          <a:p>
            <a:pPr marL="0" indent="0" algn="l">
              <a:lnSpc>
                <a:spcPts val="1890"/>
              </a:lnSpc>
              <a:buNone/>
            </a:pPr>
            <a:r>
              <a:rPr lang="en" altLang="en-US" sz="135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Supabase, and Cohere for a</a:t>
            </a:r>
            <a:endParaRPr lang="en" sz="1350" dirty="0"/>
          </a:p>
          <a:p>
            <a:pPr marL="0" indent="0" algn="l">
              <a:lnSpc>
                <a:spcPts val="1890"/>
              </a:lnSpc>
              <a:buNone/>
            </a:pPr>
            <a:r>
              <a:rPr lang="en" altLang="en-US" sz="135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scalable AI application.</a:t>
            </a:r>
            <a:endParaRPr lang="en" sz="1350" dirty="0"/>
          </a:p>
        </p:txBody>
      </p:sp>
      <p:sp>
        <p:nvSpPr>
          <p:cNvPr id="7" name="TextBox 80"/>
          <p:cNvSpPr/>
          <p:nvPr/>
        </p:nvSpPr>
        <p:spPr>
          <a:xfrm>
            <a:off x="4606826" y="1754386"/>
            <a:ext cx="193878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350" b="1" kern="0" spc="34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Frontend Presentation</a:t>
            </a:r>
            <a:endParaRPr lang="en" sz="1350" dirty="0"/>
          </a:p>
        </p:txBody>
      </p:sp>
      <p:sp>
        <p:nvSpPr>
          <p:cNvPr id="8" name="TextBox 82"/>
          <p:cNvSpPr/>
          <p:nvPr/>
        </p:nvSpPr>
        <p:spPr>
          <a:xfrm>
            <a:off x="7080498" y="1797248"/>
            <a:ext cx="54262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b="1" kern="0" spc="45" dirty="0">
                <a:solidFill>
                  <a:srgbClr val="8C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LAYER 01</a:t>
            </a:r>
            <a:endParaRPr lang="en" sz="900" dirty="0"/>
          </a:p>
        </p:txBody>
      </p:sp>
      <p:sp>
        <p:nvSpPr>
          <p:cNvPr id="9" name="TextBox 85"/>
          <p:cNvSpPr/>
          <p:nvPr/>
        </p:nvSpPr>
        <p:spPr>
          <a:xfrm>
            <a:off x="4606826" y="2211586"/>
            <a:ext cx="3016300" cy="600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frontend is developed with React, Vite, and</a:t>
            </a:r>
            <a:endParaRPr lang="en" sz="1050" dirty="0"/>
          </a:p>
          <a:p>
            <a:pPr marL="0" indent="0" algn="l">
              <a:lnSpc>
                <a:spcPts val="1575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Tailwind CSS, deployed on Vercel for high</a:t>
            </a:r>
            <a:endParaRPr lang="en" sz="1050" dirty="0"/>
          </a:p>
          <a:p>
            <a:pPr marL="0" indent="0" algn="l">
              <a:lnSpc>
                <a:spcPts val="1575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performance.</a:t>
            </a:r>
            <a:endParaRPr lang="en" sz="1050" dirty="0"/>
          </a:p>
        </p:txBody>
      </p:sp>
      <p:sp>
        <p:nvSpPr>
          <p:cNvPr id="10" name="TextBox 97"/>
          <p:cNvSpPr/>
          <p:nvPr/>
        </p:nvSpPr>
        <p:spPr>
          <a:xfrm>
            <a:off x="8327975" y="1754386"/>
            <a:ext cx="138112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350" b="1" kern="0" spc="34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REST API Engine</a:t>
            </a:r>
            <a:endParaRPr lang="en" sz="1350" dirty="0"/>
          </a:p>
        </p:txBody>
      </p:sp>
      <p:sp>
        <p:nvSpPr>
          <p:cNvPr id="11" name="TextBox 99"/>
          <p:cNvSpPr/>
          <p:nvPr/>
        </p:nvSpPr>
        <p:spPr>
          <a:xfrm>
            <a:off x="10778133" y="1797248"/>
            <a:ext cx="56614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b="1" kern="0" spc="45" dirty="0">
                <a:solidFill>
                  <a:srgbClr val="8C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LAYER 02</a:t>
            </a:r>
            <a:endParaRPr lang="en" sz="900" dirty="0"/>
          </a:p>
        </p:txBody>
      </p:sp>
      <p:sp>
        <p:nvSpPr>
          <p:cNvPr id="12" name="TextBox 102"/>
          <p:cNvSpPr/>
          <p:nvPr/>
        </p:nvSpPr>
        <p:spPr>
          <a:xfrm>
            <a:off x="8327975" y="2211586"/>
            <a:ext cx="30163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backend utilizes FastAPI and Python, hosted</a:t>
            </a:r>
            <a:endParaRPr lang="en" sz="1050" dirty="0"/>
          </a:p>
          <a:p>
            <a:pPr marL="0" indent="0" algn="l">
              <a:lnSpc>
                <a:spcPts val="1575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 Render.</a:t>
            </a:r>
            <a:endParaRPr lang="en" sz="1050" dirty="0"/>
          </a:p>
        </p:txBody>
      </p:sp>
      <p:sp>
        <p:nvSpPr>
          <p:cNvPr id="13" name="TextBox 114"/>
          <p:cNvSpPr/>
          <p:nvPr/>
        </p:nvSpPr>
        <p:spPr>
          <a:xfrm>
            <a:off x="4606826" y="4234755"/>
            <a:ext cx="1584127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350" b="1" kern="0" spc="34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Data Management</a:t>
            </a:r>
            <a:endParaRPr lang="en" sz="1350" dirty="0"/>
          </a:p>
        </p:txBody>
      </p:sp>
      <p:sp>
        <p:nvSpPr>
          <p:cNvPr id="14" name="TextBox 116"/>
          <p:cNvSpPr/>
          <p:nvPr/>
        </p:nvSpPr>
        <p:spPr>
          <a:xfrm>
            <a:off x="7055495" y="4277618"/>
            <a:ext cx="56763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b="1" kern="0" spc="45" dirty="0">
                <a:solidFill>
                  <a:srgbClr val="8C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LAYER 03</a:t>
            </a:r>
            <a:endParaRPr lang="en" sz="900" dirty="0"/>
          </a:p>
        </p:txBody>
      </p:sp>
      <p:sp>
        <p:nvSpPr>
          <p:cNvPr id="15" name="TextBox 119"/>
          <p:cNvSpPr/>
          <p:nvPr/>
        </p:nvSpPr>
        <p:spPr>
          <a:xfrm>
            <a:off x="4606826" y="4691955"/>
            <a:ext cx="3016300" cy="600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Data management is handled by Supabase,</a:t>
            </a:r>
            <a:endParaRPr lang="en" sz="1050" dirty="0"/>
          </a:p>
          <a:p>
            <a:pPr marL="0" indent="0" algn="l">
              <a:lnSpc>
                <a:spcPts val="1575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providing PostgreSQL, Authentication, and</a:t>
            </a:r>
            <a:endParaRPr lang="en" sz="1050" dirty="0"/>
          </a:p>
          <a:p>
            <a:pPr marL="0" indent="0" algn="l">
              <a:lnSpc>
                <a:spcPts val="1575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Storage.</a:t>
            </a:r>
            <a:endParaRPr lang="en" sz="1050" dirty="0"/>
          </a:p>
        </p:txBody>
      </p:sp>
      <p:sp>
        <p:nvSpPr>
          <p:cNvPr id="16" name="TextBox 131"/>
          <p:cNvSpPr/>
          <p:nvPr/>
        </p:nvSpPr>
        <p:spPr>
          <a:xfrm>
            <a:off x="8327975" y="4234755"/>
            <a:ext cx="160496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350" b="1" kern="0" spc="34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&amp; Vector Search</a:t>
            </a:r>
            <a:endParaRPr lang="en" sz="1350" dirty="0"/>
          </a:p>
        </p:txBody>
      </p:sp>
      <p:sp>
        <p:nvSpPr>
          <p:cNvPr id="17" name="TextBox 133"/>
          <p:cNvSpPr/>
          <p:nvPr/>
        </p:nvSpPr>
        <p:spPr>
          <a:xfrm>
            <a:off x="10772626" y="4277618"/>
            <a:ext cx="57164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b="1" kern="0" spc="45" dirty="0">
                <a:solidFill>
                  <a:srgbClr val="8C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LAYER 04</a:t>
            </a:r>
            <a:endParaRPr lang="en" sz="900" dirty="0"/>
          </a:p>
        </p:txBody>
      </p:sp>
      <p:sp>
        <p:nvSpPr>
          <p:cNvPr id="18" name="TextBox 136"/>
          <p:cNvSpPr/>
          <p:nvPr/>
        </p:nvSpPr>
        <p:spPr>
          <a:xfrm>
            <a:off x="8327975" y="4691955"/>
            <a:ext cx="301630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AI layer leverages Cohere embeddings and</a:t>
            </a:r>
            <a:endParaRPr lang="en" sz="1050" dirty="0"/>
          </a:p>
          <a:p>
            <a:pPr marL="0" indent="0" algn="l">
              <a:lnSpc>
                <a:spcPts val="1575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command-r7b LLM, while vector search is</a:t>
            </a:r>
            <a:endParaRPr lang="en" sz="1050" dirty="0"/>
          </a:p>
          <a:p>
            <a:pPr marL="0" indent="0" algn="l">
              <a:lnSpc>
                <a:spcPts val="1575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powered by FAISS indexes, supporting both</a:t>
            </a:r>
            <a:endParaRPr lang="en" sz="1050" dirty="0"/>
          </a:p>
          <a:p>
            <a:pPr marL="0" indent="0" algn="l">
              <a:lnSpc>
                <a:spcPts val="1575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shared and per-user data isolation.</a:t>
            </a:r>
            <a:endParaRPr lang="en" sz="1050" dirty="0"/>
          </a:p>
        </p:txBody>
      </p: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_type_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67"/>
            <a:ext cx="12192000" cy="6858000"/>
          </a:xfrm>
          <a:prstGeom prst="rect">
            <a:avLst/>
          </a:prstGeom>
        </p:spPr>
      </p:pic>
      <p:sp>
        <p:nvSpPr>
          <p:cNvPr id="3" name="TextBox 17"/>
          <p:cNvSpPr/>
          <p:nvPr/>
        </p:nvSpPr>
        <p:spPr>
          <a:xfrm>
            <a:off x="609600" y="457200"/>
            <a:ext cx="109728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b="1" kern="0" spc="158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TECHNICAL ARCHITECTURE</a:t>
            </a:r>
            <a:endParaRPr lang="en" sz="1050" dirty="0"/>
          </a:p>
        </p:txBody>
      </p:sp>
      <p:sp>
        <p:nvSpPr>
          <p:cNvPr id="4" name="TextBox 19"/>
          <p:cNvSpPr/>
          <p:nvPr/>
        </p:nvSpPr>
        <p:spPr>
          <a:xfrm>
            <a:off x="609600" y="693390"/>
            <a:ext cx="10972800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31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RAG Pipeline</a:t>
            </a:r>
            <a:endParaRPr lang="en" sz="3150" dirty="0"/>
          </a:p>
        </p:txBody>
      </p:sp>
      <p:sp>
        <p:nvSpPr>
          <p:cNvPr id="5" name="TextBox 34"/>
          <p:cNvSpPr/>
          <p:nvPr/>
        </p:nvSpPr>
        <p:spPr>
          <a:xfrm>
            <a:off x="609600" y="1514326"/>
            <a:ext cx="4000500" cy="731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RAG pipeline ensures that AI responses are</a:t>
            </a:r>
            <a:endParaRPr lang="en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accurate, contextual, and deeply integrated with the</a:t>
            </a:r>
            <a:endParaRPr lang="en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" altLang="en-US" sz="12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user's specific study content.</a:t>
            </a:r>
            <a:endParaRPr lang="en" sz="1200" dirty="0"/>
          </a:p>
        </p:txBody>
      </p:sp>
      <p:sp>
        <p:nvSpPr>
          <p:cNvPr id="6" name="TextBox 40"/>
          <p:cNvSpPr/>
          <p:nvPr/>
        </p:nvSpPr>
        <p:spPr>
          <a:xfrm>
            <a:off x="866775" y="2512368"/>
            <a:ext cx="3743325" cy="719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" altLang="en-US" sz="135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sophisticated pipeline utilizing hierarchical</a:t>
            </a:r>
            <a:endParaRPr lang="en" sz="1350" dirty="0"/>
          </a:p>
          <a:p>
            <a:pPr marL="0" indent="0" algn="l">
              <a:lnSpc>
                <a:spcPts val="1890"/>
              </a:lnSpc>
              <a:buNone/>
            </a:pPr>
            <a:r>
              <a:rPr lang="en" altLang="en-US" sz="135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splitting, metadata enrichment, and dual-</a:t>
            </a:r>
            <a:endParaRPr lang="en" sz="1350" dirty="0"/>
          </a:p>
          <a:p>
            <a:pPr marL="0" indent="0" algn="l">
              <a:lnSpc>
                <a:spcPts val="1890"/>
              </a:lnSpc>
              <a:buNone/>
            </a:pPr>
            <a:r>
              <a:rPr lang="en" altLang="en-US" sz="135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index retrieval.</a:t>
            </a:r>
            <a:endParaRPr lang="en" sz="1350" dirty="0"/>
          </a:p>
        </p:txBody>
      </p:sp>
      <p:sp>
        <p:nvSpPr>
          <p:cNvPr id="7" name="TextBox 50"/>
          <p:cNvSpPr/>
          <p:nvPr/>
        </p:nvSpPr>
        <p:spPr>
          <a:xfrm>
            <a:off x="847725" y="3863016"/>
            <a:ext cx="3524250" cy="22127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35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Pipeline Characteristics</a:t>
            </a:r>
            <a:endParaRPr lang="en" sz="1350" dirty="0"/>
          </a:p>
        </p:txBody>
      </p:sp>
      <p:sp>
        <p:nvSpPr>
          <p:cNvPr id="8" name="TextBox 61"/>
          <p:cNvSpPr/>
          <p:nvPr/>
        </p:nvSpPr>
        <p:spPr>
          <a:xfrm>
            <a:off x="1000125" y="4177274"/>
            <a:ext cx="2733675" cy="1464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Ingestion Engine</a:t>
            </a:r>
            <a:endParaRPr lang="en" sz="1050" dirty="0"/>
          </a:p>
        </p:txBody>
      </p:sp>
      <p:sp>
        <p:nvSpPr>
          <p:cNvPr id="9" name="TextBox 63"/>
          <p:cNvSpPr/>
          <p:nvPr/>
        </p:nvSpPr>
        <p:spPr>
          <a:xfrm>
            <a:off x="1000125" y="4323755"/>
            <a:ext cx="2911475" cy="22127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dirty="0">
                <a:solidFill>
                  <a:srgbClr val="2D2926">
                    <a:alpha val="7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Markdown splitting by unit, chapter, and topic headers.</a:t>
            </a:r>
            <a:endParaRPr lang="en" sz="900" dirty="0"/>
          </a:p>
        </p:txBody>
      </p:sp>
      <p:sp>
        <p:nvSpPr>
          <p:cNvPr id="10" name="TextBox 74"/>
          <p:cNvSpPr/>
          <p:nvPr/>
        </p:nvSpPr>
        <p:spPr>
          <a:xfrm>
            <a:off x="1000125" y="4545029"/>
            <a:ext cx="2911475" cy="1836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Vector Storage</a:t>
            </a:r>
            <a:endParaRPr lang="en" sz="1050" dirty="0"/>
          </a:p>
        </p:txBody>
      </p:sp>
      <p:sp>
        <p:nvSpPr>
          <p:cNvPr id="11" name="TextBox 76"/>
          <p:cNvSpPr/>
          <p:nvPr/>
        </p:nvSpPr>
        <p:spPr>
          <a:xfrm>
            <a:off x="1000125" y="4712759"/>
            <a:ext cx="2973884" cy="1836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dirty="0">
                <a:solidFill>
                  <a:srgbClr val="2D2926">
                    <a:alpha val="7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Cohere embed-english-light-v3.0 embeddings in FAISS.</a:t>
            </a:r>
            <a:endParaRPr lang="en" sz="900" dirty="0"/>
          </a:p>
        </p:txBody>
      </p:sp>
      <p:sp>
        <p:nvSpPr>
          <p:cNvPr id="12" name="TextBox 87"/>
          <p:cNvSpPr/>
          <p:nvPr/>
        </p:nvSpPr>
        <p:spPr>
          <a:xfrm>
            <a:off x="1000125" y="4943976"/>
            <a:ext cx="3046942" cy="2239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Scoped Retrieval</a:t>
            </a:r>
            <a:endParaRPr lang="en" sz="1050" dirty="0"/>
          </a:p>
        </p:txBody>
      </p:sp>
      <p:sp>
        <p:nvSpPr>
          <p:cNvPr id="13" name="TextBox 89"/>
          <p:cNvSpPr/>
          <p:nvPr/>
        </p:nvSpPr>
        <p:spPr>
          <a:xfrm>
            <a:off x="1000125" y="5186066"/>
            <a:ext cx="2973884" cy="1986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dirty="0">
                <a:solidFill>
                  <a:srgbClr val="2D2926">
                    <a:alpha val="7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Similarity searches across shared and per-user indexes.</a:t>
            </a:r>
            <a:endParaRPr lang="en" sz="900" dirty="0"/>
          </a:p>
        </p:txBody>
      </p:sp>
      <p:sp>
        <p:nvSpPr>
          <p:cNvPr id="14" name="TextBox 100"/>
          <p:cNvSpPr/>
          <p:nvPr/>
        </p:nvSpPr>
        <p:spPr>
          <a:xfrm>
            <a:off x="1000125" y="5477737"/>
            <a:ext cx="3180011" cy="2239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Attributed Generation</a:t>
            </a:r>
            <a:endParaRPr lang="en" sz="1050" dirty="0"/>
          </a:p>
        </p:txBody>
      </p:sp>
      <p:sp>
        <p:nvSpPr>
          <p:cNvPr id="15" name="TextBox 102"/>
          <p:cNvSpPr/>
          <p:nvPr/>
        </p:nvSpPr>
        <p:spPr>
          <a:xfrm>
            <a:off x="1000125" y="5655734"/>
            <a:ext cx="3180011" cy="445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" altLang="en-US" sz="900" dirty="0">
                <a:solidFill>
                  <a:srgbClr val="2D2926">
                    <a:alpha val="7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Final LLM responses with source attribution and confidence</a:t>
            </a:r>
            <a:endParaRPr lang="en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" altLang="en-US" sz="900" dirty="0">
                <a:solidFill>
                  <a:srgbClr val="2D2926">
                    <a:alpha val="7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scoring.</a:t>
            </a:r>
            <a:endParaRPr lang="en" sz="900" dirty="0"/>
          </a:p>
        </p:txBody>
      </p:sp>
      <p:sp>
        <p:nvSpPr>
          <p:cNvPr id="16" name="TextBox 122"/>
          <p:cNvSpPr/>
          <p:nvPr/>
        </p:nvSpPr>
        <p:spPr>
          <a:xfrm>
            <a:off x="9281071" y="6100763"/>
            <a:ext cx="775692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" altLang="en-US" sz="825" kern="0" spc="41" dirty="0">
                <a:solidFill>
                  <a:srgbClr val="5C1A1A">
                    <a:alpha val="6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Core Engine</a:t>
            </a:r>
            <a:endParaRPr lang="en" sz="825" dirty="0"/>
          </a:p>
        </p:txBody>
      </p:sp>
      <p:sp>
        <p:nvSpPr>
          <p:cNvPr id="17" name="TextBox 126"/>
          <p:cNvSpPr/>
          <p:nvPr/>
        </p:nvSpPr>
        <p:spPr>
          <a:xfrm>
            <a:off x="10437763" y="6100763"/>
            <a:ext cx="1144637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" altLang="en-US" sz="825" kern="0" spc="41" dirty="0">
                <a:solidFill>
                  <a:srgbClr val="5C1A1A">
                    <a:alpha val="6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Technical Module</a:t>
            </a:r>
            <a:endParaRPr lang="en" sz="825" dirty="0"/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_type_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17"/>
          <p:cNvSpPr/>
          <p:nvPr/>
        </p:nvSpPr>
        <p:spPr>
          <a:xfrm>
            <a:off x="609600" y="457200"/>
            <a:ext cx="109728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b="1" kern="0" spc="158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PART 1</a:t>
            </a:r>
            <a:endParaRPr lang="en" sz="1050" dirty="0"/>
          </a:p>
        </p:txBody>
      </p:sp>
      <p:sp>
        <p:nvSpPr>
          <p:cNvPr id="4" name="TextBox 19"/>
          <p:cNvSpPr/>
          <p:nvPr/>
        </p:nvSpPr>
        <p:spPr>
          <a:xfrm>
            <a:off x="609600" y="693390"/>
            <a:ext cx="10972800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31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Key Features</a:t>
            </a:r>
            <a:endParaRPr lang="en" sz="3150" dirty="0"/>
          </a:p>
        </p:txBody>
      </p:sp>
      <p:sp>
        <p:nvSpPr>
          <p:cNvPr id="5" name="TextBox 30"/>
          <p:cNvSpPr/>
          <p:nvPr/>
        </p:nvSpPr>
        <p:spPr>
          <a:xfrm>
            <a:off x="866775" y="1438126"/>
            <a:ext cx="1071562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35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Integrated reader, editor, and dashboard provide a seamless environment for daily study tasks.</a:t>
            </a:r>
            <a:endParaRPr lang="en" sz="1350" dirty="0"/>
          </a:p>
        </p:txBody>
      </p:sp>
      <p:sp>
        <p:nvSpPr>
          <p:cNvPr id="6" name="TextBox 32"/>
          <p:cNvSpPr/>
          <p:nvPr/>
        </p:nvSpPr>
        <p:spPr>
          <a:xfrm>
            <a:off x="866775" y="1728639"/>
            <a:ext cx="7315200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6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platform offers a comprehensive suite of tools for reading, note-taking, and progress tracking within a unified</a:t>
            </a:r>
            <a:endParaRPr lang="en" sz="1050" dirty="0"/>
          </a:p>
          <a:p>
            <a:pPr marL="0" indent="0" algn="l">
              <a:lnSpc>
                <a:spcPts val="1706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dashboard.</a:t>
            </a:r>
            <a:endParaRPr lang="en" sz="1050" dirty="0"/>
          </a:p>
        </p:txBody>
      </p:sp>
      <p:sp>
        <p:nvSpPr>
          <p:cNvPr id="7" name="TextBox 50"/>
          <p:cNvSpPr/>
          <p:nvPr/>
        </p:nvSpPr>
        <p:spPr>
          <a:xfrm>
            <a:off x="1533525" y="3000226"/>
            <a:ext cx="54203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kern="0" spc="90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TOOL 01</a:t>
            </a:r>
            <a:endParaRPr lang="en" sz="900" dirty="0"/>
          </a:p>
        </p:txBody>
      </p:sp>
      <p:sp>
        <p:nvSpPr>
          <p:cNvPr id="8" name="TextBox 53"/>
          <p:cNvSpPr/>
          <p:nvPr/>
        </p:nvSpPr>
        <p:spPr>
          <a:xfrm>
            <a:off x="923925" y="3543151"/>
            <a:ext cx="2825651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80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Study Reader</a:t>
            </a:r>
            <a:endParaRPr lang="en" sz="1800" dirty="0"/>
          </a:p>
        </p:txBody>
      </p:sp>
      <p:sp>
        <p:nvSpPr>
          <p:cNvPr id="9" name="TextBox 55"/>
          <p:cNvSpPr/>
          <p:nvPr/>
        </p:nvSpPr>
        <p:spPr>
          <a:xfrm>
            <a:off x="923925" y="3992612"/>
            <a:ext cx="2825651" cy="4265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feature-rich PDF viewer designed for deep</a:t>
            </a:r>
            <a:endParaRPr lang="en" sz="1050" dirty="0"/>
          </a:p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focus and structured reading.</a:t>
            </a:r>
            <a:endParaRPr lang="en" sz="1050" dirty="0"/>
          </a:p>
        </p:txBody>
      </p:sp>
      <p:sp>
        <p:nvSpPr>
          <p:cNvPr id="10" name="TextBox 63"/>
          <p:cNvSpPr/>
          <p:nvPr/>
        </p:nvSpPr>
        <p:spPr>
          <a:xfrm>
            <a:off x="1154906" y="5105400"/>
            <a:ext cx="1788914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TOC &amp; Bookmark Navigation</a:t>
            </a:r>
            <a:endParaRPr lang="en" sz="1050" dirty="0"/>
          </a:p>
        </p:txBody>
      </p:sp>
      <p:sp>
        <p:nvSpPr>
          <p:cNvPr id="11" name="TextBox 70"/>
          <p:cNvSpPr/>
          <p:nvPr/>
        </p:nvSpPr>
        <p:spPr>
          <a:xfrm>
            <a:off x="1154906" y="5419725"/>
            <a:ext cx="1732062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Light, Dark, &amp; Sepia Themes</a:t>
            </a:r>
            <a:endParaRPr lang="en" sz="1050" dirty="0"/>
          </a:p>
        </p:txBody>
      </p:sp>
      <p:sp>
        <p:nvSpPr>
          <p:cNvPr id="12" name="TextBox 77"/>
          <p:cNvSpPr/>
          <p:nvPr/>
        </p:nvSpPr>
        <p:spPr>
          <a:xfrm>
            <a:off x="1154906" y="5734050"/>
            <a:ext cx="158487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Integrated Reading Timer</a:t>
            </a:r>
            <a:endParaRPr lang="en" sz="1050" dirty="0"/>
          </a:p>
        </p:txBody>
      </p:sp>
      <p:sp>
        <p:nvSpPr>
          <p:cNvPr id="13" name="TextBox 93"/>
          <p:cNvSpPr/>
          <p:nvPr/>
        </p:nvSpPr>
        <p:spPr>
          <a:xfrm>
            <a:off x="5292626" y="3000226"/>
            <a:ext cx="56822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kern="0" spc="90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TOOL 02</a:t>
            </a:r>
            <a:endParaRPr lang="en" sz="900" dirty="0"/>
          </a:p>
        </p:txBody>
      </p:sp>
      <p:sp>
        <p:nvSpPr>
          <p:cNvPr id="14" name="TextBox 96"/>
          <p:cNvSpPr/>
          <p:nvPr/>
        </p:nvSpPr>
        <p:spPr>
          <a:xfrm>
            <a:off x="4683026" y="3543151"/>
            <a:ext cx="2825800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80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Notes Editor</a:t>
            </a:r>
            <a:endParaRPr lang="en" sz="1800" dirty="0"/>
          </a:p>
        </p:txBody>
      </p:sp>
      <p:sp>
        <p:nvSpPr>
          <p:cNvPr id="15" name="TextBox 98"/>
          <p:cNvSpPr/>
          <p:nvPr/>
        </p:nvSpPr>
        <p:spPr>
          <a:xfrm>
            <a:off x="4683026" y="3992612"/>
            <a:ext cx="2825800" cy="4265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powerful writing environment optimized for</a:t>
            </a:r>
            <a:endParaRPr lang="en" sz="1050" dirty="0"/>
          </a:p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technical and academic content.</a:t>
            </a:r>
            <a:endParaRPr lang="en" sz="1050" dirty="0"/>
          </a:p>
        </p:txBody>
      </p:sp>
      <p:sp>
        <p:nvSpPr>
          <p:cNvPr id="16" name="TextBox 106"/>
          <p:cNvSpPr/>
          <p:nvPr/>
        </p:nvSpPr>
        <p:spPr>
          <a:xfrm>
            <a:off x="4914007" y="5105400"/>
            <a:ext cx="144586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Full Markdown Support</a:t>
            </a:r>
            <a:endParaRPr lang="en" sz="1050" dirty="0"/>
          </a:p>
        </p:txBody>
      </p:sp>
      <p:sp>
        <p:nvSpPr>
          <p:cNvPr id="17" name="TextBox 113"/>
          <p:cNvSpPr/>
          <p:nvPr/>
        </p:nvSpPr>
        <p:spPr>
          <a:xfrm>
            <a:off x="4914007" y="5419725"/>
            <a:ext cx="203001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AI-Generated Organization Tags</a:t>
            </a:r>
            <a:endParaRPr lang="en" sz="1050" dirty="0"/>
          </a:p>
        </p:txBody>
      </p:sp>
      <p:sp>
        <p:nvSpPr>
          <p:cNvPr id="18" name="TextBox 120"/>
          <p:cNvSpPr/>
          <p:nvPr/>
        </p:nvSpPr>
        <p:spPr>
          <a:xfrm>
            <a:off x="4914007" y="5734050"/>
            <a:ext cx="1400473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URL Reference Linking</a:t>
            </a:r>
            <a:endParaRPr lang="en" sz="1050" dirty="0"/>
          </a:p>
        </p:txBody>
      </p:sp>
      <p:sp>
        <p:nvSpPr>
          <p:cNvPr id="19" name="TextBox 136"/>
          <p:cNvSpPr/>
          <p:nvPr/>
        </p:nvSpPr>
        <p:spPr>
          <a:xfrm>
            <a:off x="9051875" y="3000226"/>
            <a:ext cx="5692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kern="0" spc="90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TOOL 03</a:t>
            </a:r>
            <a:endParaRPr lang="en" sz="900" dirty="0"/>
          </a:p>
        </p:txBody>
      </p:sp>
      <p:sp>
        <p:nvSpPr>
          <p:cNvPr id="20" name="TextBox 139"/>
          <p:cNvSpPr/>
          <p:nvPr/>
        </p:nvSpPr>
        <p:spPr>
          <a:xfrm>
            <a:off x="8442275" y="3543151"/>
            <a:ext cx="2825651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80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Dashboard</a:t>
            </a:r>
            <a:endParaRPr lang="en" sz="1800" dirty="0"/>
          </a:p>
        </p:txBody>
      </p:sp>
      <p:sp>
        <p:nvSpPr>
          <p:cNvPr id="21" name="TextBox 141"/>
          <p:cNvSpPr/>
          <p:nvPr/>
        </p:nvSpPr>
        <p:spPr>
          <a:xfrm>
            <a:off x="8442275" y="3992612"/>
            <a:ext cx="2825651" cy="4265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command center for monitoring your</a:t>
            </a:r>
            <a:endParaRPr lang="en" sz="1050" dirty="0"/>
          </a:p>
          <a:p>
            <a:pPr marL="0" indent="0" algn="l">
              <a:lnSpc>
                <a:spcPts val="168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academic progress and growth.</a:t>
            </a:r>
            <a:endParaRPr lang="en" sz="1050" dirty="0"/>
          </a:p>
        </p:txBody>
      </p:sp>
      <p:sp>
        <p:nvSpPr>
          <p:cNvPr id="22" name="TextBox 149"/>
          <p:cNvSpPr/>
          <p:nvPr/>
        </p:nvSpPr>
        <p:spPr>
          <a:xfrm>
            <a:off x="8673257" y="5105400"/>
            <a:ext cx="1457623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Activity Streak Tracking</a:t>
            </a:r>
            <a:endParaRPr lang="en" sz="1050" dirty="0"/>
          </a:p>
        </p:txBody>
      </p:sp>
      <p:sp>
        <p:nvSpPr>
          <p:cNvPr id="23" name="TextBox 156"/>
          <p:cNvSpPr/>
          <p:nvPr/>
        </p:nvSpPr>
        <p:spPr>
          <a:xfrm>
            <a:off x="8673257" y="5419725"/>
            <a:ext cx="1606004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Reading Progress Metrics</a:t>
            </a:r>
            <a:endParaRPr lang="en" sz="1050" dirty="0"/>
          </a:p>
        </p:txBody>
      </p:sp>
      <p:sp>
        <p:nvSpPr>
          <p:cNvPr id="24" name="TextBox 163"/>
          <p:cNvSpPr/>
          <p:nvPr/>
        </p:nvSpPr>
        <p:spPr>
          <a:xfrm>
            <a:off x="8673257" y="5734050"/>
            <a:ext cx="158814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Weak Topic Identification</a:t>
            </a:r>
            <a:endParaRPr lang="en" sz="1050" dirty="0"/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_type_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4"/>
          <p:cNvSpPr/>
          <p:nvPr/>
        </p:nvSpPr>
        <p:spPr>
          <a:xfrm>
            <a:off x="609600" y="457200"/>
            <a:ext cx="109728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b="1" kern="0" spc="158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ADVANCED AI CAPABILITIES</a:t>
            </a:r>
            <a:endParaRPr lang="en" sz="1050" dirty="0"/>
          </a:p>
        </p:txBody>
      </p:sp>
      <p:sp>
        <p:nvSpPr>
          <p:cNvPr id="4" name="TextBox 26"/>
          <p:cNvSpPr/>
          <p:nvPr/>
        </p:nvSpPr>
        <p:spPr>
          <a:xfrm>
            <a:off x="609600" y="693390"/>
            <a:ext cx="10972800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31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Key Features (Part 2)</a:t>
            </a:r>
            <a:endParaRPr lang="en" sz="3150" dirty="0"/>
          </a:p>
        </p:txBody>
      </p:sp>
      <p:sp>
        <p:nvSpPr>
          <p:cNvPr id="5" name="TextBox 30"/>
          <p:cNvSpPr/>
          <p:nvPr/>
        </p:nvSpPr>
        <p:spPr>
          <a:xfrm>
            <a:off x="609600" y="1285726"/>
            <a:ext cx="7315200" cy="4798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" altLang="en-US" sz="1350" dirty="0">
                <a:solidFill>
                  <a:srgbClr val="5C1A1A">
                    <a:alpha val="8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AI-driven quizzes, chat, and roadmaps transform study material into an active learning</a:t>
            </a:r>
            <a:endParaRPr lang="en" sz="1350" dirty="0"/>
          </a:p>
          <a:p>
            <a:pPr marL="0" indent="0" algn="l">
              <a:lnSpc>
                <a:spcPts val="1890"/>
              </a:lnSpc>
              <a:buNone/>
            </a:pPr>
            <a:r>
              <a:rPr lang="en" altLang="en-US" sz="1350" dirty="0">
                <a:solidFill>
                  <a:srgbClr val="5C1A1A">
                    <a:alpha val="8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experience.</a:t>
            </a:r>
            <a:endParaRPr lang="en" sz="1350" dirty="0"/>
          </a:p>
        </p:txBody>
      </p:sp>
      <p:sp>
        <p:nvSpPr>
          <p:cNvPr id="6" name="TextBox 47"/>
          <p:cNvSpPr/>
          <p:nvPr/>
        </p:nvSpPr>
        <p:spPr>
          <a:xfrm>
            <a:off x="1343025" y="2308473"/>
            <a:ext cx="139452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50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Quiz Generator</a:t>
            </a:r>
            <a:endParaRPr lang="en" sz="1500" dirty="0"/>
          </a:p>
        </p:txBody>
      </p:sp>
      <p:sp>
        <p:nvSpPr>
          <p:cNvPr id="7" name="TextBox 50"/>
          <p:cNvSpPr/>
          <p:nvPr/>
        </p:nvSpPr>
        <p:spPr>
          <a:xfrm>
            <a:off x="923925" y="2746623"/>
            <a:ext cx="470535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Creates unit-scoped Multiple Choice Questions directly from your</a:t>
            </a:r>
            <a:endParaRPr lang="en" sz="1125" dirty="0"/>
          </a:p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study material to test comprehension and reinforce key concepts</a:t>
            </a:r>
            <a:endParaRPr lang="en" sz="1125" dirty="0"/>
          </a:p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automatically.</a:t>
            </a:r>
            <a:endParaRPr lang="en" sz="1125" dirty="0"/>
          </a:p>
        </p:txBody>
      </p:sp>
      <p:sp>
        <p:nvSpPr>
          <p:cNvPr id="8" name="TextBox 61"/>
          <p:cNvSpPr/>
          <p:nvPr/>
        </p:nvSpPr>
        <p:spPr>
          <a:xfrm>
            <a:off x="6981825" y="2308473"/>
            <a:ext cx="177270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50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'Ask AI' Chat</a:t>
            </a:r>
            <a:endParaRPr lang="en" sz="1500" dirty="0"/>
          </a:p>
        </p:txBody>
      </p:sp>
      <p:sp>
        <p:nvSpPr>
          <p:cNvPr id="9" name="TextBox 64"/>
          <p:cNvSpPr/>
          <p:nvPr/>
        </p:nvSpPr>
        <p:spPr>
          <a:xfrm>
            <a:off x="6562725" y="2746623"/>
            <a:ext cx="470535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Subject-scoped RAG (Retrieval-Augmented Generation) chat</a:t>
            </a:r>
            <a:endParaRPr lang="en" sz="1125" dirty="0"/>
          </a:p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providing precise information with clear source attribution for every</a:t>
            </a:r>
            <a:endParaRPr lang="en" sz="1125" dirty="0"/>
          </a:p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answer provided.</a:t>
            </a:r>
            <a:endParaRPr lang="en" sz="1125" dirty="0"/>
          </a:p>
        </p:txBody>
      </p:sp>
      <p:sp>
        <p:nvSpPr>
          <p:cNvPr id="10" name="TextBox 75"/>
          <p:cNvSpPr/>
          <p:nvPr/>
        </p:nvSpPr>
        <p:spPr>
          <a:xfrm>
            <a:off x="1343025" y="4587925"/>
            <a:ext cx="185305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50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Intelligent Roadmap</a:t>
            </a:r>
            <a:endParaRPr lang="en" sz="1500" dirty="0"/>
          </a:p>
        </p:txBody>
      </p:sp>
      <p:sp>
        <p:nvSpPr>
          <p:cNvPr id="11" name="TextBox 78"/>
          <p:cNvSpPr/>
          <p:nvPr/>
        </p:nvSpPr>
        <p:spPr>
          <a:xfrm>
            <a:off x="923925" y="5026075"/>
            <a:ext cx="470535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Generates personalized week-by-week study plans based on real-</a:t>
            </a:r>
            <a:endParaRPr lang="en" sz="1125" dirty="0"/>
          </a:p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time performance data and identified knowledge gaps to optimize</a:t>
            </a:r>
            <a:endParaRPr lang="en" sz="1125" dirty="0"/>
          </a:p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your learning path.</a:t>
            </a:r>
            <a:endParaRPr lang="en" sz="1125" dirty="0"/>
          </a:p>
        </p:txBody>
      </p:sp>
      <p:sp>
        <p:nvSpPr>
          <p:cNvPr id="12" name="TextBox 89"/>
          <p:cNvSpPr/>
          <p:nvPr/>
        </p:nvSpPr>
        <p:spPr>
          <a:xfrm>
            <a:off x="6981825" y="4587925"/>
            <a:ext cx="157683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50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Growth Analytics</a:t>
            </a:r>
            <a:endParaRPr lang="en" sz="1500" dirty="0"/>
          </a:p>
        </p:txBody>
      </p:sp>
      <p:sp>
        <p:nvSpPr>
          <p:cNvPr id="13" name="TextBox 92"/>
          <p:cNvSpPr/>
          <p:nvPr/>
        </p:nvSpPr>
        <p:spPr>
          <a:xfrm>
            <a:off x="6562725" y="5026075"/>
            <a:ext cx="470535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Comprehensive tracking of trends and subject-wise performance</a:t>
            </a:r>
            <a:endParaRPr lang="en" sz="1125" dirty="0"/>
          </a:p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metrics, visualizing student growth and focus areas over time with</a:t>
            </a:r>
            <a:endParaRPr lang="en" sz="1125" dirty="0"/>
          </a:p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>
                    <a:alpha val="9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technical precision.</a:t>
            </a:r>
            <a:endParaRPr lang="en" sz="1125" dirty="0"/>
          </a:p>
        </p:txBody>
      </p: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6"/>
          <p:cNvSpPr/>
          <p:nvPr/>
        </p:nvSpPr>
        <p:spPr>
          <a:xfrm>
            <a:off x="609600" y="457200"/>
            <a:ext cx="1097280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b="1" kern="0" spc="158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SYSTEM ARCHITECTURE &amp; RETRIEVAL</a:t>
            </a:r>
            <a:endParaRPr lang="en" sz="1050" dirty="0"/>
          </a:p>
        </p:txBody>
      </p:sp>
      <p:sp>
        <p:nvSpPr>
          <p:cNvPr id="4" name="TextBox 28"/>
          <p:cNvSpPr/>
          <p:nvPr/>
        </p:nvSpPr>
        <p:spPr>
          <a:xfrm>
            <a:off x="609600" y="733425"/>
            <a:ext cx="10972800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31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Technical Highlights</a:t>
            </a:r>
            <a:endParaRPr lang="en" sz="3150" dirty="0"/>
          </a:p>
        </p:txBody>
      </p:sp>
      <p:sp>
        <p:nvSpPr>
          <p:cNvPr id="5" name="TextBox 44"/>
          <p:cNvSpPr/>
          <p:nvPr/>
        </p:nvSpPr>
        <p:spPr>
          <a:xfrm>
            <a:off x="809625" y="1544836"/>
            <a:ext cx="10753725" cy="4798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350" b="1" i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"Precision engineering through canonicalization, metadata tagging, and hybrid vector indexing."</a:t>
            </a:r>
            <a:endParaRPr lang="en" sz="1350" dirty="0"/>
          </a:p>
        </p:txBody>
      </p:sp>
      <p:sp>
        <p:nvSpPr>
          <p:cNvPr id="6" name="TextBox 46"/>
          <p:cNvSpPr/>
          <p:nvPr/>
        </p:nvSpPr>
        <p:spPr>
          <a:xfrm>
            <a:off x="809625" y="2062758"/>
            <a:ext cx="1107757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dirty="0">
                <a:solidFill>
                  <a:srgbClr val="2D2926">
                    <a:alpha val="8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Technical optimizations ensure data consistency, precise retrieval, and user trust through transparent AI processes.</a:t>
            </a:r>
            <a:endParaRPr lang="en" sz="1050" dirty="0"/>
          </a:p>
        </p:txBody>
      </p:sp>
      <p:sp>
        <p:nvSpPr>
          <p:cNvPr id="7" name="TextBox 65"/>
          <p:cNvSpPr/>
          <p:nvPr/>
        </p:nvSpPr>
        <p:spPr>
          <a:xfrm>
            <a:off x="1134533" y="2680837"/>
            <a:ext cx="227826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50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Subject Canonicalization</a:t>
            </a:r>
            <a:endParaRPr lang="en" sz="1500" dirty="0"/>
          </a:p>
        </p:txBody>
      </p:sp>
      <p:sp>
        <p:nvSpPr>
          <p:cNvPr id="8" name="TextBox 70"/>
          <p:cNvSpPr/>
          <p:nvPr/>
        </p:nvSpPr>
        <p:spPr>
          <a:xfrm>
            <a:off x="1134533" y="2972871"/>
            <a:ext cx="5023379" cy="1057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system implements normalization protocols to handle naming variations.</a:t>
            </a:r>
            <a:endParaRPr lang="en" sz="1125" dirty="0"/>
          </a:p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This ensures that disparate inputs </a:t>
            </a:r>
            <a:endParaRPr lang="en" sz="1125" dirty="0"/>
          </a:p>
        </p:txBody>
      </p:sp>
      <p:sp>
        <p:nvSpPr>
          <p:cNvPr id="9" name="TextBox 74"/>
          <p:cNvSpPr/>
          <p:nvPr/>
        </p:nvSpPr>
        <p:spPr>
          <a:xfrm>
            <a:off x="790575" y="5148709"/>
            <a:ext cx="139749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" sz="900" dirty="0"/>
          </a:p>
        </p:txBody>
      </p:sp>
      <p:sp>
        <p:nvSpPr>
          <p:cNvPr id="10" name="TextBox 95"/>
          <p:cNvSpPr/>
          <p:nvPr/>
        </p:nvSpPr>
        <p:spPr>
          <a:xfrm>
            <a:off x="6684019" y="2686724"/>
            <a:ext cx="237633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50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Precise Metadata Tagging</a:t>
            </a:r>
            <a:endParaRPr lang="en" sz="1500" dirty="0"/>
          </a:p>
        </p:txBody>
      </p:sp>
      <p:sp>
        <p:nvSpPr>
          <p:cNvPr id="11" name="TextBox 100"/>
          <p:cNvSpPr/>
          <p:nvPr/>
        </p:nvSpPr>
        <p:spPr>
          <a:xfrm>
            <a:off x="6700838" y="2986683"/>
            <a:ext cx="5119688" cy="923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Granular subject scoping is achieved by tagging every individual data chunk</a:t>
            </a:r>
            <a:endParaRPr lang="en" sz="1125" dirty="0"/>
          </a:p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with unit-wise metadata. This allows the retrieval engine to filter content by</a:t>
            </a:r>
            <a:endParaRPr lang="en" sz="1125" dirty="0"/>
          </a:p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chapter, module, or specific learning objective with surgical precision.</a:t>
            </a:r>
            <a:endParaRPr lang="en" sz="1125" dirty="0"/>
          </a:p>
        </p:txBody>
      </p:sp>
      <p:sp>
        <p:nvSpPr>
          <p:cNvPr id="12" name="TextBox 104"/>
          <p:cNvSpPr/>
          <p:nvPr/>
        </p:nvSpPr>
        <p:spPr>
          <a:xfrm>
            <a:off x="6738938" y="4205883"/>
            <a:ext cx="548878" cy="238125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none" lIns="76200" tIns="38100" rIns="76200" bIns="381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" sz="750" dirty="0"/>
          </a:p>
        </p:txBody>
      </p:sp>
      <p:sp>
        <p:nvSpPr>
          <p:cNvPr id="13" name="TextBox 106"/>
          <p:cNvSpPr/>
          <p:nvPr/>
        </p:nvSpPr>
        <p:spPr>
          <a:xfrm>
            <a:off x="7364016" y="4205883"/>
            <a:ext cx="1016347" cy="238125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none" lIns="76200" tIns="38100" rIns="76200" bIns="381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" sz="750" dirty="0"/>
          </a:p>
        </p:txBody>
      </p:sp>
      <p:sp>
        <p:nvSpPr>
          <p:cNvPr id="14" name="TextBox 108"/>
          <p:cNvSpPr/>
          <p:nvPr/>
        </p:nvSpPr>
        <p:spPr>
          <a:xfrm>
            <a:off x="8456563" y="4205883"/>
            <a:ext cx="860971" cy="238125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none" lIns="76200" tIns="38100" rIns="76200" bIns="381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" sz="750" dirty="0"/>
          </a:p>
        </p:txBody>
      </p:sp>
      <p:sp>
        <p:nvSpPr>
          <p:cNvPr id="15" name="TextBox 124"/>
          <p:cNvSpPr/>
          <p:nvPr/>
        </p:nvSpPr>
        <p:spPr>
          <a:xfrm>
            <a:off x="1134533" y="4277939"/>
            <a:ext cx="209803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50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Hybrid Vector Indexing</a:t>
            </a:r>
            <a:endParaRPr lang="en" sz="1500" dirty="0"/>
          </a:p>
        </p:txBody>
      </p:sp>
      <p:sp>
        <p:nvSpPr>
          <p:cNvPr id="16" name="TextBox 129"/>
          <p:cNvSpPr/>
          <p:nvPr/>
        </p:nvSpPr>
        <p:spPr>
          <a:xfrm>
            <a:off x="1134533" y="4584249"/>
            <a:ext cx="5376863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Utilizing a Hybrid FAISS approach, the architecture maintains a sophisticated</a:t>
            </a:r>
            <a:endParaRPr lang="en" sz="1125" dirty="0"/>
          </a:p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dual-index system. It effectively manages a global </a:t>
            </a:r>
            <a:r>
              <a:rPr lang="en" altLang="en-US" sz="1125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shared knowledge base</a:t>
            </a:r>
            <a:endParaRPr lang="en" sz="1125" dirty="0"/>
          </a:p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while isolating private, per-user notes for secure, personalized retrieval.</a:t>
            </a:r>
            <a:endParaRPr lang="en" sz="1125" dirty="0"/>
          </a:p>
        </p:txBody>
      </p:sp>
      <p:sp>
        <p:nvSpPr>
          <p:cNvPr id="17" name="TextBox 140"/>
          <p:cNvSpPr/>
          <p:nvPr/>
        </p:nvSpPr>
        <p:spPr>
          <a:xfrm>
            <a:off x="4830514" y="6001940"/>
            <a:ext cx="135597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dirty="0">
                <a:solidFill>
                  <a:srgbClr val="2D2926">
                    <a:alpha val="6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FAISS Vector Engine v2.4</a:t>
            </a:r>
            <a:endParaRPr lang="en" sz="900" dirty="0"/>
          </a:p>
        </p:txBody>
      </p:sp>
      <p:sp>
        <p:nvSpPr>
          <p:cNvPr id="18" name="TextBox 156"/>
          <p:cNvSpPr/>
          <p:nvPr/>
        </p:nvSpPr>
        <p:spPr>
          <a:xfrm>
            <a:off x="6700838" y="4302269"/>
            <a:ext cx="16890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50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 Attribution</a:t>
            </a:r>
            <a:endParaRPr lang="en" sz="1500" dirty="0"/>
          </a:p>
        </p:txBody>
      </p:sp>
      <p:sp>
        <p:nvSpPr>
          <p:cNvPr id="19" name="TextBox 161"/>
          <p:cNvSpPr/>
          <p:nvPr/>
        </p:nvSpPr>
        <p:spPr>
          <a:xfrm>
            <a:off x="6700838" y="4582120"/>
            <a:ext cx="4862513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 foster user trust, every AI-generated response includes explicit</a:t>
            </a:r>
            <a:endParaRPr lang="en" sz="1125" dirty="0"/>
          </a:p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 attribution to the specific unit or chapter. Responses are further</a:t>
            </a:r>
            <a:endParaRPr lang="en" sz="1125" dirty="0"/>
          </a:p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validated with a </a:t>
            </a:r>
            <a:r>
              <a:rPr lang="en" altLang="en-US" sz="1125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confidence score</a:t>
            </a:r>
            <a:r>
              <a:rPr lang="en" altLang="en-US" sz="112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derived from retrieval depth.</a:t>
            </a:r>
            <a:endParaRPr lang="en" sz="1125" dirty="0"/>
          </a:p>
        </p:txBody>
      </p:sp>
      <p:sp>
        <p:nvSpPr>
          <p:cNvPr id="20" name="TextBox 169"/>
          <p:cNvSpPr/>
          <p:nvPr/>
        </p:nvSpPr>
        <p:spPr>
          <a:xfrm>
            <a:off x="6747570" y="6001940"/>
            <a:ext cx="53161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Traceable</a:t>
            </a:r>
            <a:endParaRPr lang="en" sz="900" dirty="0"/>
          </a:p>
        </p:txBody>
      </p:sp>
      <p:sp>
        <p:nvSpPr>
          <p:cNvPr id="21" name="TextBox 176"/>
          <p:cNvSpPr/>
          <p:nvPr/>
        </p:nvSpPr>
        <p:spPr>
          <a:xfrm>
            <a:off x="10821922" y="6001940"/>
            <a:ext cx="41701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Verified</a:t>
            </a:r>
            <a:endParaRPr lang="en" sz="900" dirty="0"/>
          </a:p>
        </p:txBody>
      </p:sp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_type_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13"/>
          <p:cNvSpPr/>
          <p:nvPr/>
        </p:nvSpPr>
        <p:spPr>
          <a:xfrm>
            <a:off x="-762000" y="3048000"/>
            <a:ext cx="8857506" cy="45720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" sz="24000" dirty="0"/>
          </a:p>
        </p:txBody>
      </p:sp>
      <p:sp>
        <p:nvSpPr>
          <p:cNvPr id="4" name="TextBox 24"/>
          <p:cNvSpPr/>
          <p:nvPr/>
        </p:nvSpPr>
        <p:spPr>
          <a:xfrm>
            <a:off x="609600" y="457200"/>
            <a:ext cx="109728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b="1" kern="0" spc="158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DEPLOYMENT &amp; ACCESSIBILITY</a:t>
            </a:r>
            <a:endParaRPr lang="en" sz="1050" dirty="0"/>
          </a:p>
        </p:txBody>
      </p:sp>
      <p:sp>
        <p:nvSpPr>
          <p:cNvPr id="5" name="TextBox 26"/>
          <p:cNvSpPr/>
          <p:nvPr/>
        </p:nvSpPr>
        <p:spPr>
          <a:xfrm>
            <a:off x="609600" y="693390"/>
            <a:ext cx="10972800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31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Live Demo &amp; Source</a:t>
            </a:r>
            <a:endParaRPr lang="en" sz="3150" dirty="0"/>
          </a:p>
        </p:txBody>
      </p:sp>
      <p:sp>
        <p:nvSpPr>
          <p:cNvPr id="6" name="TextBox 39"/>
          <p:cNvSpPr/>
          <p:nvPr/>
        </p:nvSpPr>
        <p:spPr>
          <a:xfrm>
            <a:off x="609600" y="1600051"/>
            <a:ext cx="85344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" altLang="en-US" sz="1500" i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"The project is fully deployed, open-source, and ready for immediate evaluation and</a:t>
            </a:r>
            <a:endParaRPr lang="en" sz="15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" altLang="en-US" sz="1500" i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reproduction."</a:t>
            </a:r>
            <a:endParaRPr lang="en" sz="1500" dirty="0"/>
          </a:p>
        </p:txBody>
      </p:sp>
      <p:sp>
        <p:nvSpPr>
          <p:cNvPr id="7" name="TextBox 56"/>
          <p:cNvSpPr/>
          <p:nvPr/>
        </p:nvSpPr>
        <p:spPr>
          <a:xfrm>
            <a:off x="866775" y="2514451"/>
            <a:ext cx="120074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b="1" kern="0" spc="90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LIVE APPLICATION</a:t>
            </a:r>
            <a:endParaRPr lang="en" sz="900" dirty="0"/>
          </a:p>
        </p:txBody>
      </p:sp>
      <p:sp>
        <p:nvSpPr>
          <p:cNvPr id="8" name="TextBox 63"/>
          <p:cNvSpPr/>
          <p:nvPr/>
        </p:nvSpPr>
        <p:spPr>
          <a:xfrm>
            <a:off x="866775" y="3000226"/>
            <a:ext cx="5508427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2100" b="1" u="sng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rag-v2-gules.vercel.app</a:t>
            </a:r>
            <a:endParaRPr lang="en" sz="2100" dirty="0"/>
          </a:p>
        </p:txBody>
      </p:sp>
      <p:sp>
        <p:nvSpPr>
          <p:cNvPr id="9" name="TextBox 65"/>
          <p:cNvSpPr/>
          <p:nvPr/>
        </p:nvSpPr>
        <p:spPr>
          <a:xfrm>
            <a:off x="866775" y="3552676"/>
            <a:ext cx="5508427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6"/>
              </a:lnSpc>
              <a:buNone/>
            </a:pPr>
            <a:r>
              <a:rPr lang="en" altLang="en-US" sz="1050" dirty="0">
                <a:solidFill>
                  <a:srgbClr val="8C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Fully functional frontend hosted on Vercel with a high-performance backend running on</a:t>
            </a:r>
            <a:endParaRPr lang="en" sz="1050" dirty="0"/>
          </a:p>
          <a:p>
            <a:pPr marL="0" indent="0" algn="l">
              <a:lnSpc>
                <a:spcPts val="1706"/>
              </a:lnSpc>
              <a:buNone/>
            </a:pPr>
            <a:r>
              <a:rPr lang="en" altLang="en-US" sz="1050" dirty="0">
                <a:solidFill>
                  <a:srgbClr val="8C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Render.</a:t>
            </a:r>
            <a:endParaRPr lang="en" sz="1050" dirty="0"/>
          </a:p>
        </p:txBody>
      </p:sp>
      <p:sp>
        <p:nvSpPr>
          <p:cNvPr id="10" name="TextBox 74"/>
          <p:cNvSpPr/>
          <p:nvPr/>
        </p:nvSpPr>
        <p:spPr>
          <a:xfrm>
            <a:off x="866775" y="4871889"/>
            <a:ext cx="135835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b="1" kern="0" spc="90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PUBLIC REPOSITORY</a:t>
            </a:r>
            <a:endParaRPr lang="en" sz="900" dirty="0"/>
          </a:p>
        </p:txBody>
      </p:sp>
      <p:sp>
        <p:nvSpPr>
          <p:cNvPr id="11" name="TextBox 81"/>
          <p:cNvSpPr/>
          <p:nvPr/>
        </p:nvSpPr>
        <p:spPr>
          <a:xfrm>
            <a:off x="866775" y="5386239"/>
            <a:ext cx="5508427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2100" b="1" u="sng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github.com/prateEKsaha07/RAG_v2</a:t>
            </a:r>
            <a:endParaRPr lang="en" sz="2100" dirty="0"/>
          </a:p>
        </p:txBody>
      </p:sp>
      <p:sp>
        <p:nvSpPr>
          <p:cNvPr id="12" name="TextBox 83"/>
          <p:cNvSpPr/>
          <p:nvPr/>
        </p:nvSpPr>
        <p:spPr>
          <a:xfrm>
            <a:off x="866775" y="5938689"/>
            <a:ext cx="5508427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dirty="0">
                <a:solidFill>
                  <a:srgbClr val="8C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Complete codebase featuring 10 functionally complete modules and full version history.</a:t>
            </a:r>
            <a:endParaRPr lang="en" sz="1050" dirty="0"/>
          </a:p>
        </p:txBody>
      </p:sp>
      <p:sp>
        <p:nvSpPr>
          <p:cNvPr id="13" name="TextBox 95"/>
          <p:cNvSpPr/>
          <p:nvPr/>
        </p:nvSpPr>
        <p:spPr>
          <a:xfrm>
            <a:off x="7483376" y="2162026"/>
            <a:ext cx="4016127" cy="10001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6300" b="1" kern="0" spc="-315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</a:t>
            </a:r>
            <a:endParaRPr lang="en" sz="6300" dirty="0"/>
          </a:p>
        </p:txBody>
      </p:sp>
      <p:sp>
        <p:nvSpPr>
          <p:cNvPr id="14" name="TextBox 97"/>
          <p:cNvSpPr/>
          <p:nvPr/>
        </p:nvSpPr>
        <p:spPr>
          <a:xfrm>
            <a:off x="7483376" y="3038326"/>
            <a:ext cx="4016127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350" b="1" kern="0" spc="-34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Functionally Complete Modules</a:t>
            </a:r>
            <a:endParaRPr lang="en" sz="1350" dirty="0"/>
          </a:p>
        </p:txBody>
      </p:sp>
      <p:sp>
        <p:nvSpPr>
          <p:cNvPr id="15" name="TextBox 109"/>
          <p:cNvSpPr/>
          <p:nvPr/>
        </p:nvSpPr>
        <p:spPr>
          <a:xfrm>
            <a:off x="7673876" y="3495526"/>
            <a:ext cx="2079724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" altLang="en-US" sz="135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Full Reproducibility</a:t>
            </a:r>
            <a:endParaRPr lang="en" sz="1350" dirty="0"/>
          </a:p>
        </p:txBody>
      </p:sp>
      <p:sp>
        <p:nvSpPr>
          <p:cNvPr id="16" name="TextBox 111"/>
          <p:cNvSpPr/>
          <p:nvPr/>
        </p:nvSpPr>
        <p:spPr>
          <a:xfrm>
            <a:off x="7464326" y="3886051"/>
            <a:ext cx="3762474" cy="975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1920"/>
              </a:lnSpc>
              <a:buNone/>
            </a:pPr>
            <a:r>
              <a:rPr lang="en" altLang="en-US" sz="11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project is designed for immediate verification.</a:t>
            </a:r>
            <a:endParaRPr lang="en" sz="1100" dirty="0"/>
          </a:p>
          <a:p>
            <a:pPr marL="0" indent="0">
              <a:lnSpc>
                <a:spcPts val="1920"/>
              </a:lnSpc>
              <a:buNone/>
            </a:pPr>
            <a:r>
              <a:rPr lang="en" altLang="en-US" sz="11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Anyone can clone the repository, install</a:t>
            </a:r>
            <a:endParaRPr lang="en" sz="1100" dirty="0"/>
          </a:p>
          <a:p>
            <a:pPr marL="0" indent="0">
              <a:lnSpc>
                <a:spcPts val="1920"/>
              </a:lnSpc>
              <a:buNone/>
            </a:pPr>
            <a:r>
              <a:rPr lang="en" altLang="en-US" sz="11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dependencies, and run the environment to validate</a:t>
            </a:r>
            <a:endParaRPr lang="en" sz="1100" dirty="0"/>
          </a:p>
          <a:p>
            <a:pPr marL="0" indent="0">
              <a:lnSpc>
                <a:spcPts val="1920"/>
              </a:lnSpc>
              <a:buNone/>
            </a:pPr>
            <a:r>
              <a:rPr lang="en" altLang="en-US" sz="11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implementation logic and deployment status.</a:t>
            </a:r>
            <a:endParaRPr lang="en" sz="1100" dirty="0"/>
          </a:p>
        </p:txBody>
      </p:sp>
      <p:sp>
        <p:nvSpPr>
          <p:cNvPr id="17" name="TextBox 121"/>
          <p:cNvSpPr/>
          <p:nvPr/>
        </p:nvSpPr>
        <p:spPr>
          <a:xfrm>
            <a:off x="7635776" y="5089773"/>
            <a:ext cx="304591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dirty="0">
                <a:solidFill>
                  <a:srgbClr val="8C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Clone and verify full-stack architectural integrity.</a:t>
            </a:r>
            <a:endParaRPr lang="en" sz="1050" dirty="0"/>
          </a:p>
        </p:txBody>
      </p:sp>
      <p:sp>
        <p:nvSpPr>
          <p:cNvPr id="18" name="TextBox 128"/>
          <p:cNvSpPr/>
          <p:nvPr/>
        </p:nvSpPr>
        <p:spPr>
          <a:xfrm>
            <a:off x="7635776" y="5404098"/>
            <a:ext cx="28552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" altLang="en-US" sz="1050" dirty="0">
                <a:solidFill>
                  <a:srgbClr val="8C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Immediate evaluation of retrieval-augmented</a:t>
            </a:r>
            <a:endParaRPr lang="en" sz="1050" dirty="0"/>
          </a:p>
          <a:p>
            <a:pPr marL="0" indent="0" algn="l">
              <a:lnSpc>
                <a:spcPts val="1575"/>
              </a:lnSpc>
              <a:buNone/>
            </a:pPr>
            <a:r>
              <a:rPr lang="en" altLang="en-US" sz="1050" dirty="0">
                <a:solidFill>
                  <a:srgbClr val="8C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generation (RAG) capabilities.</a:t>
            </a:r>
            <a:endParaRPr lang="en" sz="1050" dirty="0"/>
          </a:p>
        </p:txBody>
      </p:sp>
      <p:sp>
        <p:nvSpPr>
          <p:cNvPr id="19" name="TextBox 135"/>
          <p:cNvSpPr/>
          <p:nvPr/>
        </p:nvSpPr>
        <p:spPr>
          <a:xfrm>
            <a:off x="7635776" y="5918448"/>
            <a:ext cx="3332559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" altLang="en-US" sz="1050" dirty="0">
                <a:solidFill>
                  <a:srgbClr val="8C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Production-ready deployment scripts included in the</a:t>
            </a:r>
            <a:endParaRPr lang="en" sz="1050" dirty="0"/>
          </a:p>
          <a:p>
            <a:pPr marL="0" indent="0" algn="l">
              <a:lnSpc>
                <a:spcPts val="1575"/>
              </a:lnSpc>
              <a:buNone/>
            </a:pPr>
            <a:r>
              <a:rPr lang="en" altLang="en-US" sz="1050" dirty="0">
                <a:solidFill>
                  <a:srgbClr val="8C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source.</a:t>
            </a:r>
            <a:endParaRPr lang="en" sz="1050" dirty="0"/>
          </a:p>
        </p:txBody>
      </p: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_type_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6"/>
          <p:cNvSpPr/>
          <p:nvPr/>
        </p:nvSpPr>
        <p:spPr>
          <a:xfrm>
            <a:off x="609600" y="457200"/>
            <a:ext cx="109728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b="1" kern="0" spc="158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ROADMAP &amp; EVOLUTION</a:t>
            </a:r>
            <a:endParaRPr lang="en" sz="1050" dirty="0"/>
          </a:p>
        </p:txBody>
      </p:sp>
      <p:sp>
        <p:nvSpPr>
          <p:cNvPr id="4" name="TextBox 28"/>
          <p:cNvSpPr/>
          <p:nvPr/>
        </p:nvSpPr>
        <p:spPr>
          <a:xfrm>
            <a:off x="609600" y="693390"/>
            <a:ext cx="10972800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31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Impact &amp; Future Scope</a:t>
            </a:r>
            <a:endParaRPr lang="en" sz="3150" dirty="0"/>
          </a:p>
        </p:txBody>
      </p:sp>
      <p:sp>
        <p:nvSpPr>
          <p:cNvPr id="5" name="TextBox 39"/>
          <p:cNvSpPr/>
          <p:nvPr/>
        </p:nvSpPr>
        <p:spPr>
          <a:xfrm>
            <a:off x="885825" y="1257151"/>
            <a:ext cx="1071562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500" b="1" i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"From a successful solo deployment to a collaborative, adaptive, and institution-ready platform."</a:t>
            </a:r>
            <a:endParaRPr lang="en" sz="1500" dirty="0"/>
          </a:p>
        </p:txBody>
      </p:sp>
      <p:sp>
        <p:nvSpPr>
          <p:cNvPr id="6" name="TextBox 54"/>
          <p:cNvSpPr/>
          <p:nvPr/>
        </p:nvSpPr>
        <p:spPr>
          <a:xfrm>
            <a:off x="1285875" y="2257276"/>
            <a:ext cx="1525488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350" b="1" kern="0" spc="34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CURRENT IMPACT</a:t>
            </a:r>
            <a:endParaRPr lang="en" sz="1350" dirty="0"/>
          </a:p>
        </p:txBody>
      </p:sp>
      <p:sp>
        <p:nvSpPr>
          <p:cNvPr id="7" name="TextBox 59"/>
          <p:cNvSpPr/>
          <p:nvPr/>
        </p:nvSpPr>
        <p:spPr>
          <a:xfrm>
            <a:off x="942975" y="2725787"/>
            <a:ext cx="2825651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project has successfully established a </a:t>
            </a:r>
            <a:endParaRPr lang="en" sz="1125" dirty="0"/>
          </a:p>
          <a:p>
            <a:pPr marL="0" indent="0" algn="l">
              <a:lnSpc>
                <a:spcPts val="1800"/>
              </a:lnSpc>
              <a:buNone/>
            </a:pPr>
            <a:r>
              <a:rPr lang="en" altLang="en-US" sz="1125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grounded AI learning loop</a:t>
            </a:r>
            <a:r>
              <a:rPr lang="en" altLang="en-US" sz="112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, proving the</a:t>
            </a:r>
            <a:endParaRPr lang="en" sz="1125" dirty="0"/>
          </a:p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core hypothesis of solo-built technical</a:t>
            </a:r>
            <a:endParaRPr lang="en" sz="1125" dirty="0"/>
          </a:p>
          <a:p>
            <a:pPr marL="0" indent="0" algn="l">
              <a:lnSpc>
                <a:spcPts val="1800"/>
              </a:lnSpc>
              <a:buNone/>
            </a:pPr>
            <a:r>
              <a:rPr lang="en" altLang="en-US" sz="112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efficacy.</a:t>
            </a:r>
            <a:endParaRPr lang="en" sz="1125" dirty="0"/>
          </a:p>
        </p:txBody>
      </p:sp>
      <p:sp>
        <p:nvSpPr>
          <p:cNvPr id="8" name="TextBox 69"/>
          <p:cNvSpPr/>
          <p:nvPr/>
        </p:nvSpPr>
        <p:spPr>
          <a:xfrm>
            <a:off x="1057275" y="3954512"/>
            <a:ext cx="2134642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7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Successful deployment architecture</a:t>
            </a:r>
            <a:endParaRPr lang="en" sz="975" dirty="0"/>
          </a:p>
        </p:txBody>
      </p:sp>
      <p:sp>
        <p:nvSpPr>
          <p:cNvPr id="9" name="TextBox 76"/>
          <p:cNvSpPr/>
          <p:nvPr/>
        </p:nvSpPr>
        <p:spPr>
          <a:xfrm>
            <a:off x="1057275" y="4254550"/>
            <a:ext cx="1950095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7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Validated user learning workflows</a:t>
            </a:r>
            <a:endParaRPr lang="en" sz="975" dirty="0"/>
          </a:p>
        </p:txBody>
      </p:sp>
      <p:sp>
        <p:nvSpPr>
          <p:cNvPr id="10" name="TextBox 90"/>
          <p:cNvSpPr/>
          <p:nvPr/>
        </p:nvSpPr>
        <p:spPr>
          <a:xfrm>
            <a:off x="5044976" y="2257276"/>
            <a:ext cx="1071116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350" b="1" kern="0" spc="34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NEXT PHASE</a:t>
            </a:r>
            <a:endParaRPr lang="en" sz="1350" dirty="0"/>
          </a:p>
        </p:txBody>
      </p:sp>
      <p:sp>
        <p:nvSpPr>
          <p:cNvPr id="11" name="TextBox 95"/>
          <p:cNvSpPr/>
          <p:nvPr/>
        </p:nvSpPr>
        <p:spPr>
          <a:xfrm>
            <a:off x="4702076" y="2725787"/>
            <a:ext cx="2825800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75" b="1" kern="0" spc="-49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TECHNICAL ROADMAP</a:t>
            </a:r>
            <a:endParaRPr lang="en" sz="975" dirty="0"/>
          </a:p>
        </p:txBody>
      </p:sp>
      <p:sp>
        <p:nvSpPr>
          <p:cNvPr id="12" name="TextBox 101"/>
          <p:cNvSpPr/>
          <p:nvPr/>
        </p:nvSpPr>
        <p:spPr>
          <a:xfrm>
            <a:off x="4835426" y="3140125"/>
            <a:ext cx="257815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Mobile &amp; Accessibility</a:t>
            </a:r>
            <a:endParaRPr lang="en" sz="1050" dirty="0"/>
          </a:p>
        </p:txBody>
      </p:sp>
      <p:sp>
        <p:nvSpPr>
          <p:cNvPr id="13" name="TextBox 103"/>
          <p:cNvSpPr/>
          <p:nvPr/>
        </p:nvSpPr>
        <p:spPr>
          <a:xfrm>
            <a:off x="4835426" y="3378250"/>
            <a:ext cx="25781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" altLang="en-US" sz="9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Dedicated mobile app &amp; text-to-speech</a:t>
            </a:r>
            <a:endParaRPr lang="en" sz="900" dirty="0"/>
          </a:p>
          <a:p>
            <a:pPr marL="0" indent="0" algn="l">
              <a:lnSpc>
                <a:spcPts val="1125"/>
              </a:lnSpc>
              <a:buNone/>
            </a:pPr>
            <a:r>
              <a:rPr lang="en" altLang="en-US" sz="9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integration.</a:t>
            </a:r>
            <a:endParaRPr lang="en" sz="900" dirty="0"/>
          </a:p>
        </p:txBody>
      </p:sp>
      <p:sp>
        <p:nvSpPr>
          <p:cNvPr id="14" name="TextBox 108"/>
          <p:cNvSpPr/>
          <p:nvPr/>
        </p:nvSpPr>
        <p:spPr>
          <a:xfrm>
            <a:off x="4835426" y="4006900"/>
            <a:ext cx="257815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Enhanced Interaction</a:t>
            </a:r>
            <a:endParaRPr lang="en" sz="1050" dirty="0"/>
          </a:p>
        </p:txBody>
      </p:sp>
      <p:sp>
        <p:nvSpPr>
          <p:cNvPr id="15" name="TextBox 110"/>
          <p:cNvSpPr/>
          <p:nvPr/>
        </p:nvSpPr>
        <p:spPr>
          <a:xfrm>
            <a:off x="4835426" y="4245025"/>
            <a:ext cx="25781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" altLang="en-US" sz="9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Document annotations &amp; real-time study group</a:t>
            </a:r>
            <a:endParaRPr lang="en" sz="900" dirty="0"/>
          </a:p>
          <a:p>
            <a:pPr marL="0" indent="0" algn="l">
              <a:lnSpc>
                <a:spcPts val="1125"/>
              </a:lnSpc>
              <a:buNone/>
            </a:pPr>
            <a:r>
              <a:rPr lang="en" altLang="en-US" sz="9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collaboration.</a:t>
            </a:r>
            <a:endParaRPr lang="en" sz="900" dirty="0"/>
          </a:p>
        </p:txBody>
      </p:sp>
      <p:sp>
        <p:nvSpPr>
          <p:cNvPr id="16" name="TextBox 115"/>
          <p:cNvSpPr/>
          <p:nvPr/>
        </p:nvSpPr>
        <p:spPr>
          <a:xfrm>
            <a:off x="4835426" y="4873675"/>
            <a:ext cx="257815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Adaptive Intelligence</a:t>
            </a:r>
            <a:endParaRPr lang="en" sz="1050" dirty="0"/>
          </a:p>
        </p:txBody>
      </p:sp>
      <p:sp>
        <p:nvSpPr>
          <p:cNvPr id="17" name="TextBox 117"/>
          <p:cNvSpPr/>
          <p:nvPr/>
        </p:nvSpPr>
        <p:spPr>
          <a:xfrm>
            <a:off x="4835426" y="5111800"/>
            <a:ext cx="25781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" altLang="en-US" sz="9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Dynamic quiz difficulty based on performance</a:t>
            </a:r>
            <a:endParaRPr lang="en" sz="900" dirty="0"/>
          </a:p>
          <a:p>
            <a:pPr marL="0" indent="0" algn="l">
              <a:lnSpc>
                <a:spcPts val="1125"/>
              </a:lnSpc>
              <a:buNone/>
            </a:pPr>
            <a:r>
              <a:rPr lang="en" altLang="en-US" sz="90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metrics.</a:t>
            </a:r>
            <a:endParaRPr lang="en" sz="900" dirty="0"/>
          </a:p>
        </p:txBody>
      </p:sp>
      <p:sp>
        <p:nvSpPr>
          <p:cNvPr id="18" name="TextBox 131"/>
          <p:cNvSpPr/>
          <p:nvPr/>
        </p:nvSpPr>
        <p:spPr>
          <a:xfrm>
            <a:off x="8804225" y="2257276"/>
            <a:ext cx="1340644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350" b="1" kern="0" spc="34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FUTURE SCOPE</a:t>
            </a:r>
            <a:endParaRPr lang="en" sz="1350" dirty="0"/>
          </a:p>
        </p:txBody>
      </p:sp>
      <p:sp>
        <p:nvSpPr>
          <p:cNvPr id="19" name="TextBox 138"/>
          <p:cNvSpPr/>
          <p:nvPr/>
        </p:nvSpPr>
        <p:spPr>
          <a:xfrm>
            <a:off x="8461325" y="2725787"/>
            <a:ext cx="282565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Institutional Scaling</a:t>
            </a:r>
            <a:endParaRPr lang="en" sz="1050" dirty="0"/>
          </a:p>
        </p:txBody>
      </p:sp>
      <p:sp>
        <p:nvSpPr>
          <p:cNvPr id="20" name="TextBox 140"/>
          <p:cNvSpPr/>
          <p:nvPr/>
        </p:nvSpPr>
        <p:spPr>
          <a:xfrm>
            <a:off x="8461325" y="3002012"/>
            <a:ext cx="2825651" cy="396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0"/>
              </a:lnSpc>
              <a:buNone/>
            </a:pPr>
            <a:r>
              <a:rPr lang="en" altLang="en-US" sz="97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Transitioning from individual tools to college-</a:t>
            </a:r>
            <a:endParaRPr lang="en" sz="975" dirty="0"/>
          </a:p>
          <a:p>
            <a:pPr marL="0" indent="0" algn="l">
              <a:lnSpc>
                <a:spcPts val="1560"/>
              </a:lnSpc>
              <a:buNone/>
            </a:pPr>
            <a:r>
              <a:rPr lang="en" altLang="en-US" sz="975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wide platform integration.</a:t>
            </a:r>
            <a:endParaRPr lang="en" sz="975" dirty="0"/>
          </a:p>
        </p:txBody>
      </p:sp>
      <p:sp>
        <p:nvSpPr>
          <p:cNvPr id="21" name="TextBox 154"/>
          <p:cNvSpPr/>
          <p:nvPr/>
        </p:nvSpPr>
        <p:spPr>
          <a:xfrm>
            <a:off x="8994725" y="3607743"/>
            <a:ext cx="181659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Administrative Controls</a:t>
            </a:r>
            <a:endParaRPr lang="en" sz="900" dirty="0"/>
          </a:p>
        </p:txBody>
      </p:sp>
      <p:sp>
        <p:nvSpPr>
          <p:cNvPr id="22" name="TextBox 156"/>
          <p:cNvSpPr/>
          <p:nvPr/>
        </p:nvSpPr>
        <p:spPr>
          <a:xfrm>
            <a:off x="8994725" y="3788718"/>
            <a:ext cx="181659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dirty="0">
                <a:solidFill>
                  <a:srgbClr val="2D2926">
                    <a:alpha val="7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Centralized management system.</a:t>
            </a:r>
            <a:endParaRPr lang="en" sz="900" dirty="0"/>
          </a:p>
        </p:txBody>
      </p:sp>
      <p:sp>
        <p:nvSpPr>
          <p:cNvPr id="23" name="TextBox 169"/>
          <p:cNvSpPr/>
          <p:nvPr/>
        </p:nvSpPr>
        <p:spPr>
          <a:xfrm>
            <a:off x="8994725" y="4141143"/>
            <a:ext cx="169783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Institutional Accounts</a:t>
            </a:r>
            <a:endParaRPr lang="en" sz="900" dirty="0"/>
          </a:p>
        </p:txBody>
      </p:sp>
      <p:sp>
        <p:nvSpPr>
          <p:cNvPr id="24" name="TextBox 171"/>
          <p:cNvSpPr/>
          <p:nvPr/>
        </p:nvSpPr>
        <p:spPr>
          <a:xfrm>
            <a:off x="8994725" y="4322118"/>
            <a:ext cx="1697831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dirty="0">
                <a:solidFill>
                  <a:srgbClr val="2D2926">
                    <a:alpha val="70000"/>
                  </a:srgbClr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Dedicated security &amp; data silos.</a:t>
            </a:r>
            <a:endParaRPr lang="en" sz="900" dirty="0"/>
          </a:p>
        </p:txBody>
      </p:sp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_type_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2"/>
          <p:cNvSpPr/>
          <p:nvPr/>
        </p:nvSpPr>
        <p:spPr>
          <a:xfrm>
            <a:off x="609600" y="457200"/>
            <a:ext cx="1097280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b="1" kern="0" spc="158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PROJECT SUMMARY</a:t>
            </a:r>
            <a:endParaRPr lang="en" sz="1050" dirty="0"/>
          </a:p>
        </p:txBody>
      </p:sp>
      <p:sp>
        <p:nvSpPr>
          <p:cNvPr id="4" name="TextBox 24"/>
          <p:cNvSpPr/>
          <p:nvPr/>
        </p:nvSpPr>
        <p:spPr>
          <a:xfrm>
            <a:off x="609600" y="733425"/>
            <a:ext cx="10972800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31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Conclusion</a:t>
            </a:r>
            <a:endParaRPr lang="en" sz="3150" dirty="0"/>
          </a:p>
        </p:txBody>
      </p:sp>
      <p:sp>
        <p:nvSpPr>
          <p:cNvPr id="5" name="TextBox 37"/>
          <p:cNvSpPr/>
          <p:nvPr/>
        </p:nvSpPr>
        <p:spPr>
          <a:xfrm>
            <a:off x="952500" y="2369939"/>
            <a:ext cx="539293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200" kern="0" spc="120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STATEMENT OF WORK</a:t>
            </a:r>
            <a:endParaRPr lang="en" sz="1200" dirty="0"/>
          </a:p>
        </p:txBody>
      </p:sp>
      <p:sp>
        <p:nvSpPr>
          <p:cNvPr id="6" name="TextBox 39"/>
          <p:cNvSpPr/>
          <p:nvPr/>
        </p:nvSpPr>
        <p:spPr>
          <a:xfrm>
            <a:off x="952500" y="2827139"/>
            <a:ext cx="5392936" cy="24532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30"/>
              </a:lnSpc>
              <a:buNone/>
            </a:pPr>
            <a:r>
              <a:rPr lang="en" altLang="en-US" sz="420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Solo-built.</a:t>
            </a:r>
            <a:endParaRPr lang="en" sz="4200" dirty="0"/>
          </a:p>
          <a:p>
            <a:pPr marL="0" indent="0" algn="l">
              <a:lnSpc>
                <a:spcPts val="4830"/>
              </a:lnSpc>
              <a:buNone/>
            </a:pPr>
            <a:r>
              <a:rPr lang="en" altLang="en-US" sz="420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Deployed. Live.</a:t>
            </a:r>
            <a:endParaRPr lang="en" sz="4200" dirty="0"/>
          </a:p>
          <a:p>
            <a:pPr marL="0" indent="0" algn="l">
              <a:lnSpc>
                <a:spcPts val="4830"/>
              </a:lnSpc>
              <a:buNone/>
            </a:pPr>
            <a:r>
              <a:rPr lang="en" altLang="en-US" sz="420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Open source.</a:t>
            </a:r>
            <a:endParaRPr lang="en" sz="4200" dirty="0"/>
          </a:p>
          <a:p>
            <a:pPr marL="0" indent="0" algn="l">
              <a:lnSpc>
                <a:spcPts val="4830"/>
              </a:lnSpc>
              <a:buNone/>
            </a:pPr>
            <a:r>
              <a:rPr lang="en" altLang="en-US" sz="420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And still improving.</a:t>
            </a:r>
            <a:endParaRPr lang="en" sz="4200" dirty="0"/>
          </a:p>
        </p:txBody>
      </p:sp>
      <p:sp>
        <p:nvSpPr>
          <p:cNvPr id="7" name="TextBox 54"/>
          <p:cNvSpPr/>
          <p:nvPr/>
        </p:nvSpPr>
        <p:spPr>
          <a:xfrm>
            <a:off x="7383661" y="1237952"/>
            <a:ext cx="1865263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" altLang="en-US" sz="135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End-to-End Execution</a:t>
            </a:r>
            <a:endParaRPr lang="en" sz="1350" dirty="0"/>
          </a:p>
        </p:txBody>
      </p:sp>
      <p:sp>
        <p:nvSpPr>
          <p:cNvPr id="8" name="TextBox 56"/>
          <p:cNvSpPr/>
          <p:nvPr/>
        </p:nvSpPr>
        <p:spPr>
          <a:xfrm>
            <a:off x="7116961" y="1590377"/>
            <a:ext cx="4151114" cy="6500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6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AI Study Assistant represents a complete execution of a</a:t>
            </a:r>
            <a:endParaRPr lang="en" sz="1050" dirty="0"/>
          </a:p>
          <a:p>
            <a:pPr marL="0" indent="0" algn="l">
              <a:lnSpc>
                <a:spcPts val="1706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modern application, covering design, frontend, backend, AI</a:t>
            </a:r>
            <a:endParaRPr lang="en" sz="1050" dirty="0"/>
          </a:p>
          <a:p>
            <a:pPr marL="0" indent="0" algn="l">
              <a:lnSpc>
                <a:spcPts val="1706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integration, and DevOps.</a:t>
            </a:r>
            <a:endParaRPr lang="en" sz="1050" dirty="0"/>
          </a:p>
        </p:txBody>
      </p:sp>
      <p:sp>
        <p:nvSpPr>
          <p:cNvPr id="9" name="TextBox 65"/>
          <p:cNvSpPr/>
          <p:nvPr/>
        </p:nvSpPr>
        <p:spPr>
          <a:xfrm>
            <a:off x="7002661" y="2897684"/>
            <a:ext cx="191363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b="1" kern="0" spc="-45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MODULES</a:t>
            </a:r>
            <a:endParaRPr lang="en" sz="900" dirty="0"/>
          </a:p>
        </p:txBody>
      </p:sp>
      <p:sp>
        <p:nvSpPr>
          <p:cNvPr id="10" name="TextBox 67"/>
          <p:cNvSpPr/>
          <p:nvPr/>
        </p:nvSpPr>
        <p:spPr>
          <a:xfrm>
            <a:off x="7002661" y="3107234"/>
            <a:ext cx="191363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80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 Live</a:t>
            </a:r>
            <a:endParaRPr lang="en" sz="1800" dirty="0"/>
          </a:p>
        </p:txBody>
      </p:sp>
      <p:sp>
        <p:nvSpPr>
          <p:cNvPr id="11" name="TextBox 72"/>
          <p:cNvSpPr/>
          <p:nvPr/>
        </p:nvSpPr>
        <p:spPr>
          <a:xfrm>
            <a:off x="9468743" y="2897684"/>
            <a:ext cx="191363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b="1" kern="0" spc="-45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STATUS</a:t>
            </a:r>
            <a:endParaRPr lang="en" sz="900" dirty="0"/>
          </a:p>
        </p:txBody>
      </p:sp>
      <p:sp>
        <p:nvSpPr>
          <p:cNvPr id="12" name="TextBox 74"/>
          <p:cNvSpPr/>
          <p:nvPr/>
        </p:nvSpPr>
        <p:spPr>
          <a:xfrm>
            <a:off x="9468743" y="3107234"/>
            <a:ext cx="191363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80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Functional</a:t>
            </a:r>
            <a:endParaRPr lang="en" sz="1800" dirty="0"/>
          </a:p>
        </p:txBody>
      </p:sp>
      <p:sp>
        <p:nvSpPr>
          <p:cNvPr id="13" name="TextBox 84"/>
          <p:cNvSpPr/>
          <p:nvPr/>
        </p:nvSpPr>
        <p:spPr>
          <a:xfrm>
            <a:off x="7116961" y="4183559"/>
            <a:ext cx="100905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b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INFRASTRUCTURE</a:t>
            </a:r>
            <a:endParaRPr lang="en" sz="900" dirty="0"/>
          </a:p>
        </p:txBody>
      </p:sp>
      <p:sp>
        <p:nvSpPr>
          <p:cNvPr id="14" name="TextBox 86"/>
          <p:cNvSpPr/>
          <p:nvPr/>
        </p:nvSpPr>
        <p:spPr>
          <a:xfrm>
            <a:off x="10070009" y="4183559"/>
            <a:ext cx="11980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dirty="0">
                <a:solidFill>
                  <a:srgbClr val="9CA3A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Public &amp; Reproducible</a:t>
            </a:r>
            <a:endParaRPr lang="en" sz="900" dirty="0"/>
          </a:p>
        </p:txBody>
      </p:sp>
      <p:sp>
        <p:nvSpPr>
          <p:cNvPr id="15" name="TextBox 91"/>
          <p:cNvSpPr/>
          <p:nvPr/>
        </p:nvSpPr>
        <p:spPr>
          <a:xfrm>
            <a:off x="7116961" y="4593134"/>
            <a:ext cx="520601" cy="219075"/>
          </a:xfrm>
          <a:prstGeom prst="roundRect">
            <a:avLst>
              <a:gd name="adj" fmla="val 17391"/>
            </a:avLst>
          </a:prstGeom>
          <a:noFill/>
          <a:ln/>
        </p:spPr>
        <p:txBody>
          <a:bodyPr wrap="none" lIns="76200" tIns="38100" rIns="76200" bIns="381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7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VERCEL</a:t>
            </a:r>
            <a:endParaRPr lang="en" sz="750" dirty="0"/>
          </a:p>
        </p:txBody>
      </p:sp>
      <p:sp>
        <p:nvSpPr>
          <p:cNvPr id="16" name="TextBox 93"/>
          <p:cNvSpPr/>
          <p:nvPr/>
        </p:nvSpPr>
        <p:spPr>
          <a:xfrm>
            <a:off x="7713762" y="4593134"/>
            <a:ext cx="532805" cy="219075"/>
          </a:xfrm>
          <a:prstGeom prst="roundRect">
            <a:avLst>
              <a:gd name="adj" fmla="val 17391"/>
            </a:avLst>
          </a:prstGeom>
          <a:noFill/>
          <a:ln/>
        </p:spPr>
        <p:txBody>
          <a:bodyPr wrap="none" lIns="76200" tIns="38100" rIns="76200" bIns="381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7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RENDER</a:t>
            </a:r>
            <a:endParaRPr lang="en" sz="750" dirty="0"/>
          </a:p>
        </p:txBody>
      </p:sp>
      <p:sp>
        <p:nvSpPr>
          <p:cNvPr id="17" name="TextBox 95"/>
          <p:cNvSpPr/>
          <p:nvPr/>
        </p:nvSpPr>
        <p:spPr>
          <a:xfrm>
            <a:off x="8322766" y="4593134"/>
            <a:ext cx="657225" cy="219075"/>
          </a:xfrm>
          <a:prstGeom prst="roundRect">
            <a:avLst>
              <a:gd name="adj" fmla="val 17391"/>
            </a:avLst>
          </a:prstGeom>
          <a:noFill/>
          <a:ln/>
        </p:spPr>
        <p:txBody>
          <a:bodyPr wrap="none" lIns="76200" tIns="38100" rIns="76200" bIns="381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7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SUPABASE</a:t>
            </a:r>
            <a:endParaRPr lang="en" sz="750" dirty="0"/>
          </a:p>
        </p:txBody>
      </p:sp>
      <p:sp>
        <p:nvSpPr>
          <p:cNvPr id="18" name="TextBox 97"/>
          <p:cNvSpPr/>
          <p:nvPr/>
        </p:nvSpPr>
        <p:spPr>
          <a:xfrm>
            <a:off x="9056191" y="4593134"/>
            <a:ext cx="511671" cy="219075"/>
          </a:xfrm>
          <a:prstGeom prst="roundRect">
            <a:avLst>
              <a:gd name="adj" fmla="val 17391"/>
            </a:avLst>
          </a:prstGeom>
          <a:noFill/>
          <a:ln/>
        </p:spPr>
        <p:txBody>
          <a:bodyPr wrap="none" lIns="76200" tIns="38100" rIns="76200" bIns="381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7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GITHUB</a:t>
            </a:r>
            <a:endParaRPr lang="en" sz="750" dirty="0"/>
          </a:p>
        </p:txBody>
      </p:sp>
      <p:sp>
        <p:nvSpPr>
          <p:cNvPr id="19" name="TextBox 100"/>
          <p:cNvSpPr/>
          <p:nvPr/>
        </p:nvSpPr>
        <p:spPr>
          <a:xfrm>
            <a:off x="7116961" y="5040809"/>
            <a:ext cx="4151114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050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testament to technical proficiency and active development.</a:t>
            </a:r>
            <a:endParaRPr lang="en" sz="1050" dirty="0"/>
          </a:p>
        </p:txBody>
      </p:sp>
      <p:sp>
        <p:nvSpPr>
          <p:cNvPr id="20" name="TextBox 107"/>
          <p:cNvSpPr/>
          <p:nvPr/>
        </p:nvSpPr>
        <p:spPr>
          <a:xfrm>
            <a:off x="6831211" y="5745659"/>
            <a:ext cx="1554659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1350" b="1" dirty="0">
                <a:solidFill>
                  <a:srgbClr val="2D29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Any questions?</a:t>
            </a:r>
            <a:endParaRPr lang="en" sz="1350" dirty="0"/>
          </a:p>
        </p:txBody>
      </p:sp>
      <p:sp>
        <p:nvSpPr>
          <p:cNvPr id="21" name="TextBox 109"/>
          <p:cNvSpPr/>
          <p:nvPr/>
        </p:nvSpPr>
        <p:spPr>
          <a:xfrm>
            <a:off x="10134005" y="5836146"/>
            <a:ext cx="126727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" altLang="en-US" sz="900" i="1" dirty="0">
                <a:solidFill>
                  <a:srgbClr val="5C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Thank you for your time.</a:t>
            </a:r>
            <a:endParaRPr lang="en" sz="900" dirty="0"/>
          </a:p>
        </p:txBody>
      </p:sp>
    </p:spTree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1221</Words>
  <Application>Microsoft Office PowerPoint</Application>
  <PresentationFormat>Widescreen</PresentationFormat>
  <Paragraphs>256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Plus Jakarta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Prateek Saha</cp:lastModifiedBy>
  <cp:revision>7</cp:revision>
  <dcterms:created xsi:type="dcterms:W3CDTF">2026-09-21T14:48:37Z</dcterms:created>
  <dcterms:modified xsi:type="dcterms:W3CDTF">2026-09-22T13:24:45Z</dcterms:modified>
</cp:coreProperties>
</file>